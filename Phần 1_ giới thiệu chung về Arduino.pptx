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59" r:id="rId2"/>
    <p:sldId id="256" r:id="rId3"/>
    <p:sldId id="257" r:id="rId4"/>
    <p:sldId id="260" r:id="rId5"/>
    <p:sldId id="258" r:id="rId6"/>
    <p:sldId id="269" r:id="rId7"/>
    <p:sldId id="270" r:id="rId8"/>
    <p:sldId id="271" r:id="rId9"/>
    <p:sldId id="265" r:id="rId10"/>
    <p:sldId id="267" r:id="rId11"/>
    <p:sldId id="272" r:id="rId12"/>
    <p:sldId id="275" r:id="rId13"/>
    <p:sldId id="273" r:id="rId14"/>
    <p:sldId id="277" r:id="rId15"/>
    <p:sldId id="274" r:id="rId16"/>
    <p:sldId id="278" r:id="rId17"/>
    <p:sldId id="279" r:id="rId18"/>
    <p:sldId id="282" r:id="rId19"/>
    <p:sldId id="283" r:id="rId20"/>
    <p:sldId id="280" r:id="rId21"/>
    <p:sldId id="281" r:id="rId22"/>
    <p:sldId id="2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89" d="100"/>
          <a:sy n="89" d="100"/>
        </p:scale>
        <p:origin x="4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8/26/2025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08:11:15.509"/>
    </inkml:context>
    <inkml:brush xml:id="br0">
      <inkml:brushProperty name="width" value="0.035" units="cm"/>
      <inkml:brushProperty name="height" value="0.035" units="cm"/>
      <inkml:brushProperty name="color" value="#E71224"/>
    </inkml:brush>
  </inkml:definitions>
  <inkml:trace contextRef="#ctx0" brushRef="#br0">1 3507 24575,'8'-4'0,"1"1"0,-1-1 0,1-1 0,-1 0 0,8-6 0,15-11 0,453-296-622,489-317-3672,255-139 2756,-786 498 972,294-196-209,-137 88 822,33-19 5829,-568 364-5111,-3 2-211,66-54-1,-114 79-1918,-4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08:11:35.037"/>
    </inkml:context>
    <inkml:brush xml:id="br0">
      <inkml:brushProperty name="width" value="0.035" units="cm"/>
      <inkml:brushProperty name="height" value="0.035" units="cm"/>
      <inkml:brushProperty name="color" value="#E71224"/>
    </inkml:brush>
  </inkml:definitions>
  <inkml:trace contextRef="#ctx0" brushRef="#br0">2734 265 24280,'-2734'0'0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08:11:39.333"/>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8/26/2025</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8/26/2025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8/26/2025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8/26/2025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8/26/2025</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8/26/2025</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8/26/2025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8/26/2025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8/26/2025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8/26/2025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8/26/2025</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customXml" Target="../ink/ink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42BA63-383F-45B9-939A-7A3B792A60C4}"/>
              </a:ext>
            </a:extLst>
          </p:cNvPr>
          <p:cNvSpPr>
            <a:spLocks noGrp="1"/>
          </p:cNvSpPr>
          <p:nvPr>
            <p:ph type="title"/>
          </p:nvPr>
        </p:nvSpPr>
        <p:spPr>
          <a:xfrm>
            <a:off x="3788898" y="2461846"/>
            <a:ext cx="4614203" cy="1934307"/>
          </a:xfrm>
        </p:spPr>
        <p:txBody>
          <a:bodyPr/>
          <a:lstStyle/>
          <a:p>
            <a:endParaRPr lang="en-US" dirty="0"/>
          </a:p>
        </p:txBody>
      </p:sp>
    </p:spTree>
    <p:extLst>
      <p:ext uri="{BB962C8B-B14F-4D97-AF65-F5344CB8AC3E}">
        <p14:creationId xmlns:p14="http://schemas.microsoft.com/office/powerpoint/2010/main" val="123400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4" y="2219413"/>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dirty="0"/>
              <a:t>Phần 1</a:t>
            </a:r>
            <a:endParaRPr lang="en-US" dirty="0"/>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4" y="3365399"/>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sz="2800" b="0" dirty="0"/>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74317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p:txBody>
          <a:bodyPr/>
          <a:lstStyle/>
          <a:p>
            <a:r>
              <a:rPr lang="vi-VN" dirty="0"/>
              <a:t>I. Giới thiệu chung về Arduino</a:t>
            </a:r>
            <a:endParaRPr lang="en-US" dirty="0"/>
          </a:p>
        </p:txBody>
      </p:sp>
      <p:sp>
        <p:nvSpPr>
          <p:cNvPr id="3" name="Content Placeholder 2">
            <a:extLst>
              <a:ext uri="{FF2B5EF4-FFF2-40B4-BE49-F238E27FC236}">
                <a16:creationId xmlns:a16="http://schemas.microsoft.com/office/drawing/2014/main" id="{3573E091-9DCD-4DE7-96D1-A93E44E0F5B9}"/>
              </a:ext>
            </a:extLst>
          </p:cNvPr>
          <p:cNvSpPr>
            <a:spLocks noGrp="1"/>
          </p:cNvSpPr>
          <p:nvPr>
            <p:ph sz="quarter" idx="13"/>
          </p:nvPr>
        </p:nvSpPr>
        <p:spPr/>
        <p:txBody>
          <a:bodyPr/>
          <a:lstStyle/>
          <a:p>
            <a:pPr marL="457200" indent="-457200">
              <a:buAutoNum type="arabicPeriod"/>
            </a:pPr>
            <a:r>
              <a:rPr lang="vi-VN" sz="2000" b="1" dirty="0"/>
              <a:t>Định nghĩa</a:t>
            </a:r>
          </a:p>
          <a:p>
            <a:pPr marL="0" indent="0">
              <a:buNone/>
            </a:pPr>
            <a:r>
              <a:rPr lang="vi-VN" sz="2000" dirty="0"/>
              <a:t>	Arduino là một board mạch vi xử lí, dùng để thu thập, xử lí tín hiệu tuè các cảm biến sau đó xuất ra các tín hiệu điều khiển ngoại vi như đèn, động cơ, xi lanh,...</a:t>
            </a:r>
          </a:p>
          <a:p>
            <a:pPr marL="0" indent="0">
              <a:buNone/>
            </a:pPr>
            <a:endParaRPr lang="en-US" sz="2000" dirty="0"/>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fld id="{9EA0BE3B-158A-4EDF-80DC-E394A0D1600F}" type="slidenum">
              <a:rPr lang="en-US" smtClean="0"/>
              <a:pPr/>
              <a:t>4</a:t>
            </a:fld>
            <a:endParaRPr lang="en-US" dirty="0"/>
          </a:p>
        </p:txBody>
      </p:sp>
      <p:pic>
        <p:nvPicPr>
          <p:cNvPr id="5" name="Picture 4" descr="A close-up of a blue circuit board&#10;&#10;AI-generated content may be incorrect.">
            <a:extLst>
              <a:ext uri="{FF2B5EF4-FFF2-40B4-BE49-F238E27FC236}">
                <a16:creationId xmlns:a16="http://schemas.microsoft.com/office/drawing/2014/main" id="{0B287D42-F805-478E-F2CB-5BDD068507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0121" y="2057624"/>
            <a:ext cx="6357837" cy="2742751"/>
          </a:xfrm>
          <a:prstGeom prst="rect">
            <a:avLst/>
          </a:prstGeom>
        </p:spPr>
      </p:pic>
      <p:sp>
        <p:nvSpPr>
          <p:cNvPr id="8" name="TextBox 7">
            <a:extLst>
              <a:ext uri="{FF2B5EF4-FFF2-40B4-BE49-F238E27FC236}">
                <a16:creationId xmlns:a16="http://schemas.microsoft.com/office/drawing/2014/main" id="{FEF705D0-2515-DCE4-FA90-D36483781ED0}"/>
              </a:ext>
            </a:extLst>
          </p:cNvPr>
          <p:cNvSpPr txBox="1"/>
          <p:nvPr/>
        </p:nvSpPr>
        <p:spPr>
          <a:xfrm>
            <a:off x="5650301" y="4891141"/>
            <a:ext cx="3191773" cy="400110"/>
          </a:xfrm>
          <a:prstGeom prst="rect">
            <a:avLst/>
          </a:prstGeom>
          <a:noFill/>
        </p:spPr>
        <p:txBody>
          <a:bodyPr wrap="square" rtlCol="0">
            <a:spAutoFit/>
          </a:bodyPr>
          <a:lstStyle/>
          <a:p>
            <a:r>
              <a:rPr lang="vi-VN" sz="2000" dirty="0"/>
              <a:t>Arduino Uno R3 chíp gán</a:t>
            </a:r>
            <a:endParaRPr lang="en-US" sz="2000" dirty="0"/>
          </a:p>
        </p:txBody>
      </p:sp>
      <p:sp>
        <p:nvSpPr>
          <p:cNvPr id="10" name="TextBox 9">
            <a:extLst>
              <a:ext uri="{FF2B5EF4-FFF2-40B4-BE49-F238E27FC236}">
                <a16:creationId xmlns:a16="http://schemas.microsoft.com/office/drawing/2014/main" id="{AD563B03-BAEF-2ED5-3064-1A3AB336BE4F}"/>
              </a:ext>
            </a:extLst>
          </p:cNvPr>
          <p:cNvSpPr txBox="1"/>
          <p:nvPr/>
        </p:nvSpPr>
        <p:spPr>
          <a:xfrm>
            <a:off x="2392042" y="4955069"/>
            <a:ext cx="3119765" cy="400110"/>
          </a:xfrm>
          <a:prstGeom prst="rect">
            <a:avLst/>
          </a:prstGeom>
          <a:noFill/>
        </p:spPr>
        <p:txBody>
          <a:bodyPr wrap="none" rtlCol="0">
            <a:spAutoFit/>
          </a:bodyPr>
          <a:lstStyle/>
          <a:p>
            <a:r>
              <a:rPr lang="vi-VN" sz="2000" dirty="0"/>
              <a:t>Arduino Uno R3 chíp cắm</a:t>
            </a:r>
            <a:endParaRPr lang="en-US" sz="2000" dirty="0"/>
          </a:p>
        </p:txBody>
      </p:sp>
    </p:spTree>
    <p:extLst>
      <p:ext uri="{BB962C8B-B14F-4D97-AF65-F5344CB8AC3E}">
        <p14:creationId xmlns:p14="http://schemas.microsoft.com/office/powerpoint/2010/main" val="221433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vi-VN" dirty="0"/>
              <a:t>I. Giới thiệu chung về Arduino</a:t>
            </a:r>
            <a:endParaRPr lang="en-US" dirty="0"/>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pPr marL="0" indent="0">
              <a:buNone/>
            </a:pPr>
            <a:r>
              <a:rPr lang="vi-VN" sz="2000" b="1" dirty="0"/>
              <a:t>2. Các thông số cơ bản về Arduino</a:t>
            </a:r>
          </a:p>
          <a:p>
            <a:pPr marL="0" indent="0">
              <a:buNone/>
            </a:pPr>
            <a:endParaRPr lang="en-US" sz="2000" dirty="0"/>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5</a:t>
            </a:fld>
            <a:endParaRPr lang="en-US"/>
          </a:p>
        </p:txBody>
      </p:sp>
      <p:pic>
        <p:nvPicPr>
          <p:cNvPr id="4" name="Picture 3" descr="A blue circuit board with text overlay&#10;&#10;AI-generated content may be incorrect.">
            <a:extLst>
              <a:ext uri="{FF2B5EF4-FFF2-40B4-BE49-F238E27FC236}">
                <a16:creationId xmlns:a16="http://schemas.microsoft.com/office/drawing/2014/main" id="{09B9DD3D-D255-F049-6B04-2EA9D6CBF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9736" y="1537995"/>
            <a:ext cx="6569105" cy="4287495"/>
          </a:xfrm>
          <a:prstGeom prst="rect">
            <a:avLst/>
          </a:prstGeom>
        </p:spPr>
      </p:pic>
    </p:spTree>
    <p:extLst>
      <p:ext uri="{BB962C8B-B14F-4D97-AF65-F5344CB8AC3E}">
        <p14:creationId xmlns:p14="http://schemas.microsoft.com/office/powerpoint/2010/main" val="350595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90C32-191F-BF44-9AED-F5B4502FB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17755-5A8E-D299-C9CD-F215478E8051}"/>
              </a:ext>
            </a:extLst>
          </p:cNvPr>
          <p:cNvSpPr>
            <a:spLocks noGrp="1"/>
          </p:cNvSpPr>
          <p:nvPr>
            <p:ph type="title"/>
          </p:nvPr>
        </p:nvSpPr>
        <p:spPr/>
        <p:txBody>
          <a:bodyPr/>
          <a:lstStyle/>
          <a:p>
            <a:r>
              <a:rPr lang="vi-VN" dirty="0"/>
              <a:t>I. Giới thiệu chung về Arduino</a:t>
            </a:r>
            <a:endParaRPr lang="en-US" dirty="0"/>
          </a:p>
        </p:txBody>
      </p:sp>
      <p:sp>
        <p:nvSpPr>
          <p:cNvPr id="3" name="Text Placeholder 2">
            <a:extLst>
              <a:ext uri="{FF2B5EF4-FFF2-40B4-BE49-F238E27FC236}">
                <a16:creationId xmlns:a16="http://schemas.microsoft.com/office/drawing/2014/main" id="{3BF8D85E-70FD-AE36-01A3-3A1842741FFB}"/>
              </a:ext>
            </a:extLst>
          </p:cNvPr>
          <p:cNvSpPr>
            <a:spLocks noGrp="1"/>
          </p:cNvSpPr>
          <p:nvPr>
            <p:ph type="body" sz="quarter" idx="13"/>
          </p:nvPr>
        </p:nvSpPr>
        <p:spPr/>
        <p:txBody>
          <a:bodyPr/>
          <a:lstStyle/>
          <a:p>
            <a:pPr marL="0" indent="0">
              <a:buNone/>
            </a:pPr>
            <a:r>
              <a:rPr lang="vi-VN" sz="2000" dirty="0"/>
              <a:t>2. Thông số cơ bản về Arduino</a:t>
            </a:r>
          </a:p>
          <a:p>
            <a:pPr marL="0" indent="0">
              <a:buNone/>
            </a:pPr>
            <a:endParaRPr lang="en-US" sz="2000" dirty="0"/>
          </a:p>
        </p:txBody>
      </p:sp>
      <p:sp>
        <p:nvSpPr>
          <p:cNvPr id="6" name="Slide Number Placeholder 5">
            <a:extLst>
              <a:ext uri="{FF2B5EF4-FFF2-40B4-BE49-F238E27FC236}">
                <a16:creationId xmlns:a16="http://schemas.microsoft.com/office/drawing/2014/main" id="{D2F2B524-CA5A-CF46-AB00-F0D5A0E18369}"/>
              </a:ext>
            </a:extLst>
          </p:cNvPr>
          <p:cNvSpPr>
            <a:spLocks noGrp="1"/>
          </p:cNvSpPr>
          <p:nvPr>
            <p:ph type="sldNum" sz="quarter" idx="12"/>
          </p:nvPr>
        </p:nvSpPr>
        <p:spPr/>
        <p:txBody>
          <a:bodyPr/>
          <a:lstStyle/>
          <a:p>
            <a:fld id="{9EA0BE3B-158A-4EDF-80DC-E394A0D1600F}" type="slidenum">
              <a:rPr lang="en-US" smtClean="0"/>
              <a:pPr/>
              <a:t>6</a:t>
            </a:fld>
            <a:endParaRPr lang="en-US"/>
          </a:p>
        </p:txBody>
      </p:sp>
      <p:graphicFrame>
        <p:nvGraphicFramePr>
          <p:cNvPr id="8" name="Table 7">
            <a:extLst>
              <a:ext uri="{FF2B5EF4-FFF2-40B4-BE49-F238E27FC236}">
                <a16:creationId xmlns:a16="http://schemas.microsoft.com/office/drawing/2014/main" id="{E3CAE3D5-C993-15F2-7BF4-8728D44F810D}"/>
              </a:ext>
            </a:extLst>
          </p:cNvPr>
          <p:cNvGraphicFramePr>
            <a:graphicFrameLocks noGrp="1"/>
          </p:cNvGraphicFramePr>
          <p:nvPr>
            <p:extLst>
              <p:ext uri="{D42A27DB-BD31-4B8C-83A1-F6EECF244321}">
                <p14:modId xmlns:p14="http://schemas.microsoft.com/office/powerpoint/2010/main" val="1993930196"/>
              </p:ext>
            </p:extLst>
          </p:nvPr>
        </p:nvGraphicFramePr>
        <p:xfrm>
          <a:off x="1028511" y="2131060"/>
          <a:ext cx="8128000" cy="2595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901229399"/>
                    </a:ext>
                  </a:extLst>
                </a:gridCol>
                <a:gridCol w="4064000">
                  <a:extLst>
                    <a:ext uri="{9D8B030D-6E8A-4147-A177-3AD203B41FA5}">
                      <a16:colId xmlns:a16="http://schemas.microsoft.com/office/drawing/2014/main" val="467862776"/>
                    </a:ext>
                  </a:extLst>
                </a:gridCol>
              </a:tblGrid>
              <a:tr h="370840">
                <a:tc>
                  <a:txBody>
                    <a:bodyPr/>
                    <a:lstStyle/>
                    <a:p>
                      <a:r>
                        <a:rPr lang="vi-VN" dirty="0"/>
                        <a:t>Vi điều khiển</a:t>
                      </a:r>
                      <a:endParaRPr lang="en-US" dirty="0"/>
                    </a:p>
                  </a:txBody>
                  <a:tcPr/>
                </a:tc>
                <a:tc>
                  <a:txBody>
                    <a:bodyPr/>
                    <a:lstStyle/>
                    <a:p>
                      <a:r>
                        <a:rPr lang="vi-VN" dirty="0"/>
                        <a:t>ATmega328 họ 8 bit</a:t>
                      </a:r>
                      <a:endParaRPr lang="en-US" dirty="0"/>
                    </a:p>
                  </a:txBody>
                  <a:tcPr/>
                </a:tc>
                <a:extLst>
                  <a:ext uri="{0D108BD9-81ED-4DB2-BD59-A6C34878D82A}">
                    <a16:rowId xmlns:a16="http://schemas.microsoft.com/office/drawing/2014/main" val="3733179679"/>
                  </a:ext>
                </a:extLst>
              </a:tr>
              <a:tr h="370840">
                <a:tc>
                  <a:txBody>
                    <a:bodyPr/>
                    <a:lstStyle/>
                    <a:p>
                      <a:r>
                        <a:rPr lang="vi-VN" dirty="0"/>
                        <a:t>Điện áp hoạt động</a:t>
                      </a:r>
                      <a:endParaRPr lang="en-US" dirty="0"/>
                    </a:p>
                  </a:txBody>
                  <a:tcPr/>
                </a:tc>
                <a:tc>
                  <a:txBody>
                    <a:bodyPr/>
                    <a:lstStyle/>
                    <a:p>
                      <a:r>
                        <a:rPr lang="vi-VN" dirty="0"/>
                        <a:t>5V DC</a:t>
                      </a:r>
                      <a:endParaRPr lang="en-US" dirty="0"/>
                    </a:p>
                  </a:txBody>
                  <a:tcPr/>
                </a:tc>
                <a:extLst>
                  <a:ext uri="{0D108BD9-81ED-4DB2-BD59-A6C34878D82A}">
                    <a16:rowId xmlns:a16="http://schemas.microsoft.com/office/drawing/2014/main" val="1096359780"/>
                  </a:ext>
                </a:extLst>
              </a:tr>
              <a:tr h="370840">
                <a:tc>
                  <a:txBody>
                    <a:bodyPr/>
                    <a:lstStyle/>
                    <a:p>
                      <a:r>
                        <a:rPr lang="vi-VN" dirty="0"/>
                        <a:t>Tần số hoạt động </a:t>
                      </a:r>
                      <a:endParaRPr lang="en-US" dirty="0"/>
                    </a:p>
                  </a:txBody>
                  <a:tcPr/>
                </a:tc>
                <a:tc>
                  <a:txBody>
                    <a:bodyPr/>
                    <a:lstStyle/>
                    <a:p>
                      <a:r>
                        <a:rPr lang="vi-VN" dirty="0"/>
                        <a:t>16Mhz</a:t>
                      </a:r>
                      <a:endParaRPr lang="en-US" dirty="0"/>
                    </a:p>
                  </a:txBody>
                  <a:tcPr/>
                </a:tc>
                <a:extLst>
                  <a:ext uri="{0D108BD9-81ED-4DB2-BD59-A6C34878D82A}">
                    <a16:rowId xmlns:a16="http://schemas.microsoft.com/office/drawing/2014/main" val="2285860931"/>
                  </a:ext>
                </a:extLst>
              </a:tr>
              <a:tr h="370840">
                <a:tc>
                  <a:txBody>
                    <a:bodyPr/>
                    <a:lstStyle/>
                    <a:p>
                      <a:r>
                        <a:rPr lang="vi-VN" dirty="0"/>
                        <a:t>Điện áp khuyên dùng </a:t>
                      </a:r>
                      <a:endParaRPr lang="en-US" dirty="0"/>
                    </a:p>
                  </a:txBody>
                  <a:tcPr/>
                </a:tc>
                <a:tc>
                  <a:txBody>
                    <a:bodyPr/>
                    <a:lstStyle/>
                    <a:p>
                      <a:r>
                        <a:rPr lang="vi-VN" dirty="0"/>
                        <a:t>7 – 12V DC</a:t>
                      </a:r>
                      <a:endParaRPr lang="en-US" dirty="0"/>
                    </a:p>
                  </a:txBody>
                  <a:tcPr/>
                </a:tc>
                <a:extLst>
                  <a:ext uri="{0D108BD9-81ED-4DB2-BD59-A6C34878D82A}">
                    <a16:rowId xmlns:a16="http://schemas.microsoft.com/office/drawing/2014/main" val="1872704793"/>
                  </a:ext>
                </a:extLst>
              </a:tr>
              <a:tr h="370840">
                <a:tc>
                  <a:txBody>
                    <a:bodyPr/>
                    <a:lstStyle/>
                    <a:p>
                      <a:r>
                        <a:rPr lang="vi-VN" dirty="0"/>
                        <a:t>Điện áp vào giới hạn</a:t>
                      </a:r>
                      <a:endParaRPr lang="en-US" dirty="0"/>
                    </a:p>
                  </a:txBody>
                  <a:tcPr/>
                </a:tc>
                <a:tc>
                  <a:txBody>
                    <a:bodyPr/>
                    <a:lstStyle/>
                    <a:p>
                      <a:r>
                        <a:rPr lang="vi-VN" dirty="0"/>
                        <a:t>6 – 20V DC</a:t>
                      </a:r>
                      <a:endParaRPr lang="en-US" dirty="0"/>
                    </a:p>
                  </a:txBody>
                  <a:tcPr/>
                </a:tc>
                <a:extLst>
                  <a:ext uri="{0D108BD9-81ED-4DB2-BD59-A6C34878D82A}">
                    <a16:rowId xmlns:a16="http://schemas.microsoft.com/office/drawing/2014/main" val="3570717554"/>
                  </a:ext>
                </a:extLst>
              </a:tr>
              <a:tr h="370840">
                <a:tc>
                  <a:txBody>
                    <a:bodyPr/>
                    <a:lstStyle/>
                    <a:p>
                      <a:r>
                        <a:rPr lang="vi-VN" dirty="0"/>
                        <a:t>Số chân Digital / IO</a:t>
                      </a:r>
                      <a:endParaRPr lang="en-US" dirty="0"/>
                    </a:p>
                  </a:txBody>
                  <a:tcPr/>
                </a:tc>
                <a:tc>
                  <a:txBody>
                    <a:bodyPr/>
                    <a:lstStyle/>
                    <a:p>
                      <a:r>
                        <a:rPr lang="vi-VN" dirty="0"/>
                        <a:t>14 ( 6 chân PWM )</a:t>
                      </a:r>
                      <a:endParaRPr lang="en-US" dirty="0"/>
                    </a:p>
                  </a:txBody>
                  <a:tcPr/>
                </a:tc>
                <a:extLst>
                  <a:ext uri="{0D108BD9-81ED-4DB2-BD59-A6C34878D82A}">
                    <a16:rowId xmlns:a16="http://schemas.microsoft.com/office/drawing/2014/main" val="3444870077"/>
                  </a:ext>
                </a:extLst>
              </a:tr>
              <a:tr h="370840">
                <a:tc>
                  <a:txBody>
                    <a:bodyPr/>
                    <a:lstStyle/>
                    <a:p>
                      <a:r>
                        <a:rPr lang="vi-VN" dirty="0"/>
                        <a:t>Số chân Analog</a:t>
                      </a:r>
                      <a:endParaRPr lang="en-US" dirty="0"/>
                    </a:p>
                  </a:txBody>
                  <a:tcPr/>
                </a:tc>
                <a:tc>
                  <a:txBody>
                    <a:bodyPr/>
                    <a:lstStyle/>
                    <a:p>
                      <a:r>
                        <a:rPr lang="vi-VN" dirty="0"/>
                        <a:t>6 ( độ phân giải 10 bit )</a:t>
                      </a:r>
                      <a:endParaRPr lang="en-US" dirty="0"/>
                    </a:p>
                  </a:txBody>
                  <a:tcPr/>
                </a:tc>
                <a:extLst>
                  <a:ext uri="{0D108BD9-81ED-4DB2-BD59-A6C34878D82A}">
                    <a16:rowId xmlns:a16="http://schemas.microsoft.com/office/drawing/2014/main" val="331263361"/>
                  </a:ext>
                </a:extLst>
              </a:tr>
            </a:tbl>
          </a:graphicData>
        </a:graphic>
      </p:graphicFrame>
    </p:spTree>
    <p:extLst>
      <p:ext uri="{BB962C8B-B14F-4D97-AF65-F5344CB8AC3E}">
        <p14:creationId xmlns:p14="http://schemas.microsoft.com/office/powerpoint/2010/main" val="3100042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AF516-F780-D1FF-AF65-1711C1F90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E2BEB-2CB0-2B08-9B4E-0B60FD980775}"/>
              </a:ext>
            </a:extLst>
          </p:cNvPr>
          <p:cNvSpPr>
            <a:spLocks noGrp="1"/>
          </p:cNvSpPr>
          <p:nvPr>
            <p:ph type="title"/>
          </p:nvPr>
        </p:nvSpPr>
        <p:spPr/>
        <p:txBody>
          <a:bodyPr/>
          <a:lstStyle/>
          <a:p>
            <a:r>
              <a:rPr lang="vi-VN" dirty="0"/>
              <a:t>I. Giới thiệu chung về Arduino</a:t>
            </a:r>
            <a:endParaRPr lang="en-US" dirty="0"/>
          </a:p>
        </p:txBody>
      </p:sp>
      <p:sp>
        <p:nvSpPr>
          <p:cNvPr id="3" name="Text Placeholder 2">
            <a:extLst>
              <a:ext uri="{FF2B5EF4-FFF2-40B4-BE49-F238E27FC236}">
                <a16:creationId xmlns:a16="http://schemas.microsoft.com/office/drawing/2014/main" id="{BF3813E9-DDAB-0DC1-5599-2E555E117AAF}"/>
              </a:ext>
            </a:extLst>
          </p:cNvPr>
          <p:cNvSpPr>
            <a:spLocks noGrp="1"/>
          </p:cNvSpPr>
          <p:nvPr>
            <p:ph type="body" sz="quarter" idx="13"/>
          </p:nvPr>
        </p:nvSpPr>
        <p:spPr/>
        <p:txBody>
          <a:bodyPr/>
          <a:lstStyle/>
          <a:p>
            <a:pPr marL="0" indent="0">
              <a:buNone/>
            </a:pPr>
            <a:r>
              <a:rPr lang="vi-VN" sz="2000" b="1" dirty="0"/>
              <a:t>3. Phần mềm Arduino IDE</a:t>
            </a:r>
          </a:p>
          <a:p>
            <a:pPr marL="0" indent="0">
              <a:buNone/>
            </a:pPr>
            <a:endParaRPr lang="en-US" sz="2000" dirty="0"/>
          </a:p>
        </p:txBody>
      </p:sp>
      <p:sp>
        <p:nvSpPr>
          <p:cNvPr id="6" name="Slide Number Placeholder 5">
            <a:extLst>
              <a:ext uri="{FF2B5EF4-FFF2-40B4-BE49-F238E27FC236}">
                <a16:creationId xmlns:a16="http://schemas.microsoft.com/office/drawing/2014/main" id="{93DCFA70-95AD-A381-991A-4F2FB1F5C4B1}"/>
              </a:ext>
            </a:extLst>
          </p:cNvPr>
          <p:cNvSpPr>
            <a:spLocks noGrp="1"/>
          </p:cNvSpPr>
          <p:nvPr>
            <p:ph type="sldNum" sz="quarter" idx="12"/>
          </p:nvPr>
        </p:nvSpPr>
        <p:spPr/>
        <p:txBody>
          <a:bodyPr/>
          <a:lstStyle/>
          <a:p>
            <a:fld id="{9EA0BE3B-158A-4EDF-80DC-E394A0D1600F}" type="slidenum">
              <a:rPr lang="en-US" smtClean="0"/>
              <a:pPr/>
              <a:t>7</a:t>
            </a:fld>
            <a:endParaRPr lang="en-US"/>
          </a:p>
        </p:txBody>
      </p:sp>
      <p:pic>
        <p:nvPicPr>
          <p:cNvPr id="4" name="Picture 3" descr="A screenshot of a computer&#10;&#10;AI-generated content may be incorrect.">
            <a:extLst>
              <a:ext uri="{FF2B5EF4-FFF2-40B4-BE49-F238E27FC236}">
                <a16:creationId xmlns:a16="http://schemas.microsoft.com/office/drawing/2014/main" id="{F571A376-2737-82CF-7B70-4D0CAAA8E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7781" y="1453989"/>
            <a:ext cx="3902522" cy="4465048"/>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DB464F89-85A9-90EB-04FE-671D957E3C8B}"/>
                  </a:ext>
                </a:extLst>
              </p14:cNvPr>
              <p14:cNvContentPartPr/>
              <p14:nvPr/>
            </p14:nvContentPartPr>
            <p14:xfrm>
              <a:off x="6478302" y="2800644"/>
              <a:ext cx="1965240" cy="1262880"/>
            </p14:xfrm>
          </p:contentPart>
        </mc:Choice>
        <mc:Fallback xmlns="">
          <p:pic>
            <p:nvPicPr>
              <p:cNvPr id="5" name="Ink 4">
                <a:extLst>
                  <a:ext uri="{FF2B5EF4-FFF2-40B4-BE49-F238E27FC236}">
                    <a16:creationId xmlns:a16="http://schemas.microsoft.com/office/drawing/2014/main" id="{DB464F89-85A9-90EB-04FE-671D957E3C8B}"/>
                  </a:ext>
                </a:extLst>
              </p:cNvPr>
              <p:cNvPicPr/>
              <p:nvPr/>
            </p:nvPicPr>
            <p:blipFill>
              <a:blip r:embed="rId4"/>
              <a:stretch>
                <a:fillRect/>
              </a:stretch>
            </p:blipFill>
            <p:spPr>
              <a:xfrm>
                <a:off x="6472182" y="2794524"/>
                <a:ext cx="1977480" cy="1275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1EA1EC6D-6479-EA1C-69BE-F22EA08A71FF}"/>
                  </a:ext>
                </a:extLst>
              </p14:cNvPr>
              <p14:cNvContentPartPr/>
              <p14:nvPr/>
            </p14:nvContentPartPr>
            <p14:xfrm>
              <a:off x="2500662" y="2113044"/>
              <a:ext cx="984600" cy="720"/>
            </p14:xfrm>
          </p:contentPart>
        </mc:Choice>
        <mc:Fallback xmlns="">
          <p:pic>
            <p:nvPicPr>
              <p:cNvPr id="9" name="Ink 8">
                <a:extLst>
                  <a:ext uri="{FF2B5EF4-FFF2-40B4-BE49-F238E27FC236}">
                    <a16:creationId xmlns:a16="http://schemas.microsoft.com/office/drawing/2014/main" id="{1EA1EC6D-6479-EA1C-69BE-F22EA08A71FF}"/>
                  </a:ext>
                </a:extLst>
              </p:cNvPr>
              <p:cNvPicPr/>
              <p:nvPr/>
            </p:nvPicPr>
            <p:blipFill>
              <a:blip r:embed="rId6"/>
              <a:stretch>
                <a:fillRect/>
              </a:stretch>
            </p:blipFill>
            <p:spPr>
              <a:xfrm>
                <a:off x="2494542" y="2100804"/>
                <a:ext cx="9968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F5080E0C-A343-FB40-DB76-CC02D9C0B8FD}"/>
                  </a:ext>
                </a:extLst>
              </p14:cNvPr>
              <p14:cNvContentPartPr/>
              <p14:nvPr/>
            </p14:nvContentPartPr>
            <p14:xfrm>
              <a:off x="9307902" y="2363604"/>
              <a:ext cx="360" cy="360"/>
            </p14:xfrm>
          </p:contentPart>
        </mc:Choice>
        <mc:Fallback xmlns="">
          <p:pic>
            <p:nvPicPr>
              <p:cNvPr id="10" name="Ink 9">
                <a:extLst>
                  <a:ext uri="{FF2B5EF4-FFF2-40B4-BE49-F238E27FC236}">
                    <a16:creationId xmlns:a16="http://schemas.microsoft.com/office/drawing/2014/main" id="{F5080E0C-A343-FB40-DB76-CC02D9C0B8FD}"/>
                  </a:ext>
                </a:extLst>
              </p:cNvPr>
              <p:cNvPicPr/>
              <p:nvPr/>
            </p:nvPicPr>
            <p:blipFill>
              <a:blip r:embed="rId8"/>
              <a:stretch>
                <a:fillRect/>
              </a:stretch>
            </p:blipFill>
            <p:spPr>
              <a:xfrm>
                <a:off x="9301782" y="2357484"/>
                <a:ext cx="12600" cy="12600"/>
              </a:xfrm>
              <a:prstGeom prst="rect">
                <a:avLst/>
              </a:prstGeom>
            </p:spPr>
          </p:pic>
        </mc:Fallback>
      </mc:AlternateContent>
      <p:sp>
        <p:nvSpPr>
          <p:cNvPr id="11" name="TextBox 10">
            <a:extLst>
              <a:ext uri="{FF2B5EF4-FFF2-40B4-BE49-F238E27FC236}">
                <a16:creationId xmlns:a16="http://schemas.microsoft.com/office/drawing/2014/main" id="{FF58484C-B13B-6698-8C24-686AD6015066}"/>
              </a:ext>
            </a:extLst>
          </p:cNvPr>
          <p:cNvSpPr txBox="1"/>
          <p:nvPr/>
        </p:nvSpPr>
        <p:spPr>
          <a:xfrm>
            <a:off x="8574657" y="2682815"/>
            <a:ext cx="2716240" cy="369332"/>
          </a:xfrm>
          <a:prstGeom prst="rect">
            <a:avLst/>
          </a:prstGeom>
          <a:noFill/>
        </p:spPr>
        <p:txBody>
          <a:bodyPr wrap="square" rtlCol="0">
            <a:spAutoFit/>
          </a:bodyPr>
          <a:lstStyle/>
          <a:p>
            <a:r>
              <a:rPr lang="vi-VN"/>
              <a:t>Phần soạn thảo code</a:t>
            </a:r>
            <a:endParaRPr lang="en-US" dirty="0"/>
          </a:p>
        </p:txBody>
      </p:sp>
      <p:sp>
        <p:nvSpPr>
          <p:cNvPr id="12" name="TextBox 11">
            <a:extLst>
              <a:ext uri="{FF2B5EF4-FFF2-40B4-BE49-F238E27FC236}">
                <a16:creationId xmlns:a16="http://schemas.microsoft.com/office/drawing/2014/main" id="{79EB2AA9-278C-FAA2-331B-5F35E4A88A5C}"/>
              </a:ext>
            </a:extLst>
          </p:cNvPr>
          <p:cNvSpPr txBox="1"/>
          <p:nvPr/>
        </p:nvSpPr>
        <p:spPr>
          <a:xfrm>
            <a:off x="841821" y="1859622"/>
            <a:ext cx="2104845" cy="369332"/>
          </a:xfrm>
          <a:prstGeom prst="rect">
            <a:avLst/>
          </a:prstGeom>
          <a:noFill/>
        </p:spPr>
        <p:txBody>
          <a:bodyPr wrap="square" rtlCol="0">
            <a:spAutoFit/>
          </a:bodyPr>
          <a:lstStyle/>
          <a:p>
            <a:r>
              <a:rPr lang="vi-VN"/>
              <a:t>Thanh công cụ</a:t>
            </a:r>
            <a:endParaRPr lang="en-US" dirty="0"/>
          </a:p>
        </p:txBody>
      </p:sp>
    </p:spTree>
    <p:extLst>
      <p:ext uri="{BB962C8B-B14F-4D97-AF65-F5344CB8AC3E}">
        <p14:creationId xmlns:p14="http://schemas.microsoft.com/office/powerpoint/2010/main" val="1410443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47211-4ECA-A5C5-6FE4-CB9BEFE07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C0F66-5160-1B30-D986-4D1AB6D56C8A}"/>
              </a:ext>
            </a:extLst>
          </p:cNvPr>
          <p:cNvSpPr>
            <a:spLocks noGrp="1"/>
          </p:cNvSpPr>
          <p:nvPr>
            <p:ph type="title"/>
          </p:nvPr>
        </p:nvSpPr>
        <p:spPr/>
        <p:txBody>
          <a:bodyPr/>
          <a:lstStyle/>
          <a:p>
            <a:r>
              <a:rPr lang="vi-VN" dirty="0"/>
              <a:t>I. Giới thiệu chung về Arduino</a:t>
            </a:r>
            <a:endParaRPr lang="en-US" dirty="0"/>
          </a:p>
        </p:txBody>
      </p:sp>
      <p:sp>
        <p:nvSpPr>
          <p:cNvPr id="3" name="Text Placeholder 2">
            <a:extLst>
              <a:ext uri="{FF2B5EF4-FFF2-40B4-BE49-F238E27FC236}">
                <a16:creationId xmlns:a16="http://schemas.microsoft.com/office/drawing/2014/main" id="{276E2CAF-0329-76F7-0601-A8DF2E4F4FE3}"/>
              </a:ext>
            </a:extLst>
          </p:cNvPr>
          <p:cNvSpPr>
            <a:spLocks noGrp="1"/>
          </p:cNvSpPr>
          <p:nvPr>
            <p:ph type="body" sz="quarter" idx="13"/>
          </p:nvPr>
        </p:nvSpPr>
        <p:spPr/>
        <p:txBody>
          <a:bodyPr/>
          <a:lstStyle/>
          <a:p>
            <a:pPr marL="0" indent="0">
              <a:buNone/>
            </a:pPr>
            <a:r>
              <a:rPr lang="vi-VN" sz="2000" b="1" dirty="0"/>
              <a:t>3. Phần mềm Arduino IDE</a:t>
            </a:r>
          </a:p>
          <a:p>
            <a:pPr marL="0" indent="0">
              <a:buNone/>
            </a:pPr>
            <a:r>
              <a:rPr lang="vi-VN" sz="2000" dirty="0"/>
              <a:t>	Cấu trúc của một chương trình :</a:t>
            </a:r>
          </a:p>
          <a:p>
            <a:pPr marL="0" indent="0">
              <a:buNone/>
            </a:pPr>
            <a:endParaRPr lang="vi-VN" sz="2000" dirty="0"/>
          </a:p>
          <a:p>
            <a:pPr marL="0" indent="0">
              <a:buNone/>
            </a:pPr>
            <a:endParaRPr lang="vi-VN" sz="2000" dirty="0"/>
          </a:p>
          <a:p>
            <a:pPr marL="0" indent="0">
              <a:buNone/>
            </a:pPr>
            <a:endParaRPr lang="vi-VN" sz="2000" dirty="0"/>
          </a:p>
          <a:p>
            <a:pPr marL="0" indent="0">
              <a:buNone/>
            </a:pPr>
            <a:endParaRPr lang="vi-VN" sz="2000" dirty="0"/>
          </a:p>
          <a:p>
            <a:pPr marL="0" indent="0">
              <a:buNone/>
            </a:pPr>
            <a:endParaRPr lang="vi-VN" sz="2000" dirty="0"/>
          </a:p>
          <a:p>
            <a:pPr>
              <a:buFontTx/>
              <a:buChar char="-"/>
            </a:pPr>
            <a:r>
              <a:rPr lang="vi-VN" sz="2000" dirty="0"/>
              <a:t>Setup() : dòng code trong hàm này chạy 1 lần duy nhất rồi sẽ chuyển xuống hàm loop()</a:t>
            </a:r>
          </a:p>
          <a:p>
            <a:pPr marL="0" indent="0">
              <a:buNone/>
            </a:pPr>
            <a:r>
              <a:rPr lang="vi-VN" sz="2000" dirty="0"/>
              <a:t>	    dùng để đặt chế độ cho các chân, khởi tạo thư viện,...</a:t>
            </a:r>
          </a:p>
          <a:p>
            <a:pPr>
              <a:buFontTx/>
              <a:buChar char="-"/>
            </a:pPr>
            <a:r>
              <a:rPr lang="vi-VN" sz="2000" dirty="0"/>
              <a:t>Loop() : các dòng code trong hàm này sẽ chạy lặp đi lặp lại, sau khi thực hiện lệnh cuối cùng thì sx quay trở lại hàm loop().</a:t>
            </a:r>
          </a:p>
          <a:p>
            <a:pPr marL="0" indent="0">
              <a:buNone/>
            </a:pPr>
            <a:r>
              <a:rPr lang="vi-VN" sz="2000" dirty="0"/>
              <a:t>                 nhờ có hàm loop() mà arduino có thể liên tục đọc tín hiệu tuè màn hình, cảm biến,...</a:t>
            </a:r>
          </a:p>
        </p:txBody>
      </p:sp>
      <p:sp>
        <p:nvSpPr>
          <p:cNvPr id="6" name="Slide Number Placeholder 5">
            <a:extLst>
              <a:ext uri="{FF2B5EF4-FFF2-40B4-BE49-F238E27FC236}">
                <a16:creationId xmlns:a16="http://schemas.microsoft.com/office/drawing/2014/main" id="{DD58A014-00AF-67A7-F2DE-2C509EC3282E}"/>
              </a:ext>
            </a:extLst>
          </p:cNvPr>
          <p:cNvSpPr>
            <a:spLocks noGrp="1"/>
          </p:cNvSpPr>
          <p:nvPr>
            <p:ph type="sldNum" sz="quarter" idx="12"/>
          </p:nvPr>
        </p:nvSpPr>
        <p:spPr/>
        <p:txBody>
          <a:bodyPr/>
          <a:lstStyle/>
          <a:p>
            <a:fld id="{9EA0BE3B-158A-4EDF-80DC-E394A0D1600F}" type="slidenum">
              <a:rPr lang="en-US" smtClean="0"/>
              <a:pPr/>
              <a:t>8</a:t>
            </a:fld>
            <a:endParaRPr lang="en-US"/>
          </a:p>
        </p:txBody>
      </p:sp>
      <p:pic>
        <p:nvPicPr>
          <p:cNvPr id="4" name="Picture 3" descr="A white background with black text&#10;&#10;AI-generated content may be incorrect.">
            <a:extLst>
              <a:ext uri="{FF2B5EF4-FFF2-40B4-BE49-F238E27FC236}">
                <a16:creationId xmlns:a16="http://schemas.microsoft.com/office/drawing/2014/main" id="{0520F3E4-7373-E689-C98C-E45322905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991" y="1739113"/>
            <a:ext cx="4399180" cy="1762753"/>
          </a:xfrm>
          <a:prstGeom prst="rect">
            <a:avLst/>
          </a:prstGeom>
        </p:spPr>
      </p:pic>
    </p:spTree>
    <p:extLst>
      <p:ext uri="{BB962C8B-B14F-4D97-AF65-F5344CB8AC3E}">
        <p14:creationId xmlns:p14="http://schemas.microsoft.com/office/powerpoint/2010/main" val="1882718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AD8A-1EA9-C7CE-D797-0A3D974FB867}"/>
              </a:ext>
            </a:extLst>
          </p:cNvPr>
          <p:cNvSpPr>
            <a:spLocks noGrp="1"/>
          </p:cNvSpPr>
          <p:nvPr>
            <p:ph type="title"/>
          </p:nvPr>
        </p:nvSpPr>
        <p:spPr/>
        <p:txBody>
          <a:bodyPr/>
          <a:lstStyle/>
          <a:p>
            <a:r>
              <a:rPr lang="vi-VN" dirty="0"/>
              <a:t>I. Giới thiệu chung về Arduino</a:t>
            </a:r>
            <a:endParaRPr lang="en-US" dirty="0"/>
          </a:p>
        </p:txBody>
      </p:sp>
      <p:sp>
        <p:nvSpPr>
          <p:cNvPr id="3" name="Text Placeholder 2">
            <a:extLst>
              <a:ext uri="{FF2B5EF4-FFF2-40B4-BE49-F238E27FC236}">
                <a16:creationId xmlns:a16="http://schemas.microsoft.com/office/drawing/2014/main" id="{734CFAC5-863F-C743-EE8D-B9564CC43E47}"/>
              </a:ext>
            </a:extLst>
          </p:cNvPr>
          <p:cNvSpPr>
            <a:spLocks noGrp="1"/>
          </p:cNvSpPr>
          <p:nvPr>
            <p:ph type="body" sz="quarter" idx="13"/>
          </p:nvPr>
        </p:nvSpPr>
        <p:spPr/>
        <p:txBody>
          <a:bodyPr/>
          <a:lstStyle/>
          <a:p>
            <a:pPr marL="0" indent="0">
              <a:buNone/>
            </a:pPr>
            <a:r>
              <a:rPr lang="vi-VN" sz="2000" b="1" dirty="0"/>
              <a:t>3. Phần mềm Arduino IDE</a:t>
            </a:r>
          </a:p>
          <a:p>
            <a:pPr marL="0" indent="0">
              <a:buNone/>
            </a:pPr>
            <a:r>
              <a:rPr lang="vi-VN" sz="2000" dirty="0"/>
              <a:t>	Cách nạp code : </a:t>
            </a:r>
          </a:p>
          <a:p>
            <a:pPr marL="0" indent="0">
              <a:buNone/>
            </a:pPr>
            <a:endParaRPr lang="en-US" sz="2000" dirty="0"/>
          </a:p>
        </p:txBody>
      </p:sp>
      <p:sp>
        <p:nvSpPr>
          <p:cNvPr id="4" name="Slide Number Placeholder 3">
            <a:extLst>
              <a:ext uri="{FF2B5EF4-FFF2-40B4-BE49-F238E27FC236}">
                <a16:creationId xmlns:a16="http://schemas.microsoft.com/office/drawing/2014/main" id="{F8DD1CE8-660D-F65D-7BA2-062181F1E9B0}"/>
              </a:ext>
            </a:extLst>
          </p:cNvPr>
          <p:cNvSpPr>
            <a:spLocks noGrp="1"/>
          </p:cNvSpPr>
          <p:nvPr>
            <p:ph type="sldNum" sz="quarter" idx="12"/>
          </p:nvPr>
        </p:nvSpPr>
        <p:spPr/>
        <p:txBody>
          <a:bodyPr/>
          <a:lstStyle/>
          <a:p>
            <a:fld id="{9EA0BE3B-158A-4EDF-80DC-E394A0D1600F}" type="slidenum">
              <a:rPr lang="en-US" smtClean="0"/>
              <a:pPr/>
              <a:t>9</a:t>
            </a:fld>
            <a:endParaRPr lang="en-US"/>
          </a:p>
        </p:txBody>
      </p:sp>
      <p:pic>
        <p:nvPicPr>
          <p:cNvPr id="5" name="Picture 4">
            <a:extLst>
              <a:ext uri="{FF2B5EF4-FFF2-40B4-BE49-F238E27FC236}">
                <a16:creationId xmlns:a16="http://schemas.microsoft.com/office/drawing/2014/main" id="{E6703300-5EBA-8853-82F8-0BCD65EA46C9}"/>
              </a:ext>
            </a:extLst>
          </p:cNvPr>
          <p:cNvPicPr>
            <a:picLocks noChangeAspect="1"/>
          </p:cNvPicPr>
          <p:nvPr/>
        </p:nvPicPr>
        <p:blipFill>
          <a:blip r:embed="rId2"/>
          <a:stretch>
            <a:fillRect/>
          </a:stretch>
        </p:blipFill>
        <p:spPr>
          <a:xfrm>
            <a:off x="1135824" y="2381263"/>
            <a:ext cx="4865271" cy="3073291"/>
          </a:xfrm>
          <a:prstGeom prst="rect">
            <a:avLst/>
          </a:prstGeom>
        </p:spPr>
      </p:pic>
      <p:sp>
        <p:nvSpPr>
          <p:cNvPr id="6" name="TextBox 5">
            <a:extLst>
              <a:ext uri="{FF2B5EF4-FFF2-40B4-BE49-F238E27FC236}">
                <a16:creationId xmlns:a16="http://schemas.microsoft.com/office/drawing/2014/main" id="{AD198F19-3D79-28E8-0B60-12A59862836F}"/>
              </a:ext>
            </a:extLst>
          </p:cNvPr>
          <p:cNvSpPr txBox="1"/>
          <p:nvPr/>
        </p:nvSpPr>
        <p:spPr>
          <a:xfrm>
            <a:off x="6297283" y="2173857"/>
            <a:ext cx="5296619" cy="1015663"/>
          </a:xfrm>
          <a:prstGeom prst="rect">
            <a:avLst/>
          </a:prstGeom>
          <a:noFill/>
        </p:spPr>
        <p:txBody>
          <a:bodyPr wrap="square" rtlCol="0">
            <a:spAutoFit/>
          </a:bodyPr>
          <a:lstStyle/>
          <a:p>
            <a:r>
              <a:rPr lang="vi-VN" sz="2000" dirty="0"/>
              <a:t>Chọn tool </a:t>
            </a:r>
            <a:r>
              <a:rPr lang="vi-VN" sz="2000" dirty="0">
                <a:sym typeface="Wingdings" panose="05000000000000000000" pitchFamily="2" charset="2"/>
              </a:rPr>
              <a:t> port. Sau đó chọn cổng ra tương ứng </a:t>
            </a:r>
          </a:p>
          <a:p>
            <a:endParaRPr lang="vi-VN" sz="2000" dirty="0"/>
          </a:p>
        </p:txBody>
      </p:sp>
    </p:spTree>
    <p:extLst>
      <p:ext uri="{BB962C8B-B14F-4D97-AF65-F5344CB8AC3E}">
        <p14:creationId xmlns:p14="http://schemas.microsoft.com/office/powerpoint/2010/main" val="3092516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ED744802-0381-50A3-7C85-B7B6ED4EFE1B}"/>
              </a:ext>
            </a:extLst>
          </p:cNvPr>
          <p:cNvSpPr>
            <a:spLocks noGrp="1"/>
          </p:cNvSpPr>
          <p:nvPr>
            <p:ph type="body" sz="quarter" idx="13"/>
          </p:nvPr>
        </p:nvSpPr>
        <p:spPr/>
        <p:txBody>
          <a:bodyPr/>
          <a:lstStyle/>
          <a:p>
            <a:pPr marL="0" indent="0">
              <a:buNone/>
            </a:pPr>
            <a:r>
              <a:rPr lang="vi-VN" sz="2000" b="1" dirty="0"/>
              <a:t>1.    Điều khiển LED bằng Digital</a:t>
            </a:r>
          </a:p>
          <a:p>
            <a:pPr marL="0" indent="0">
              <a:buNone/>
            </a:pPr>
            <a:r>
              <a:rPr lang="vi-VN" sz="2000" dirty="0"/>
              <a:t>	</a:t>
            </a:r>
            <a:r>
              <a:rPr lang="vi-VN" sz="2000" b="1" dirty="0"/>
              <a:t>DigitalWrite() </a:t>
            </a:r>
            <a:r>
              <a:rPr lang="vi-VN" sz="2000" dirty="0"/>
              <a:t>là một hàm trong Arduino dùng để thiết lập mức điện áp cao hoặc thấp ( 5V hoặc 0V ) cho chân Digital gồm có 14 chân của Arduino</a:t>
            </a:r>
          </a:p>
          <a:p>
            <a:pPr marL="0" indent="0">
              <a:buNone/>
            </a:pPr>
            <a:r>
              <a:rPr lang="vi-VN" sz="2000" dirty="0"/>
              <a:t>              Trước khi sừ dụng hàm này thì cần phải khai báo ngõ ra trước: pinMode(pin, OUTPUT)</a:t>
            </a:r>
          </a:p>
          <a:p>
            <a:pPr marL="0" indent="0">
              <a:buNone/>
            </a:pPr>
            <a:r>
              <a:rPr lang="vi-VN" sz="2000" dirty="0"/>
              <a:t>	Cấu trúc của hàm DigitalWrite() :</a:t>
            </a:r>
          </a:p>
          <a:p>
            <a:pPr marL="0" indent="0">
              <a:buNone/>
            </a:pPr>
            <a:r>
              <a:rPr lang="vi-VN" sz="2000" dirty="0"/>
              <a:t>       VD: Xuất điện áp 5V ở chân số 4</a:t>
            </a:r>
          </a:p>
          <a:p>
            <a:pPr marL="0" indent="0">
              <a:buNone/>
            </a:pPr>
            <a:r>
              <a:rPr lang="vi-VN" sz="2000" dirty="0"/>
              <a:t>      digitalWrite(4, HIGH) hoặc digitalWrite(4, 1)</a:t>
            </a:r>
          </a:p>
          <a:p>
            <a:pPr marL="0" indent="0">
              <a:buNone/>
            </a:pPr>
            <a:r>
              <a:rPr lang="vi-VN" sz="2000" dirty="0"/>
              <a:t>       </a:t>
            </a:r>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5" name="Picture 4">
            <a:extLst>
              <a:ext uri="{FF2B5EF4-FFF2-40B4-BE49-F238E27FC236}">
                <a16:creationId xmlns:a16="http://schemas.microsoft.com/office/drawing/2014/main" id="{47F28527-807C-B1A3-2198-0C111B7C755D}"/>
              </a:ext>
            </a:extLst>
          </p:cNvPr>
          <p:cNvPicPr>
            <a:picLocks noChangeAspect="1"/>
          </p:cNvPicPr>
          <p:nvPr/>
        </p:nvPicPr>
        <p:blipFill>
          <a:blip r:embed="rId2"/>
          <a:stretch>
            <a:fillRect/>
          </a:stretch>
        </p:blipFill>
        <p:spPr>
          <a:xfrm>
            <a:off x="5156007" y="2453238"/>
            <a:ext cx="1878787" cy="467779"/>
          </a:xfrm>
          <a:prstGeom prst="rect">
            <a:avLst/>
          </a:prstGeom>
        </p:spPr>
      </p:pic>
    </p:spTree>
    <p:extLst>
      <p:ext uri="{BB962C8B-B14F-4D97-AF65-F5344CB8AC3E}">
        <p14:creationId xmlns:p14="http://schemas.microsoft.com/office/powerpoint/2010/main" val="3001568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A2CD4-D59D-35AB-111F-FE08FBC4E2D7}"/>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AB06394B-9694-A464-4E11-A54441F081C5}"/>
              </a:ext>
            </a:extLst>
          </p:cNvPr>
          <p:cNvSpPr>
            <a:spLocks noGrp="1"/>
          </p:cNvSpPr>
          <p:nvPr>
            <p:ph type="body" sz="quarter" idx="13"/>
          </p:nvPr>
        </p:nvSpPr>
        <p:spPr/>
        <p:txBody>
          <a:bodyPr/>
          <a:lstStyle/>
          <a:p>
            <a:pPr marL="457200" indent="-457200">
              <a:buAutoNum type="arabicPeriod"/>
            </a:pPr>
            <a:r>
              <a:rPr lang="vi-VN" sz="2000" b="1" dirty="0"/>
              <a:t>Điều khiển LED bằng Digital</a:t>
            </a:r>
          </a:p>
          <a:p>
            <a:pPr marL="0" indent="0">
              <a:buNone/>
            </a:pPr>
            <a:r>
              <a:rPr lang="vi-VN" sz="2000" b="1" dirty="0"/>
              <a:t>	</a:t>
            </a:r>
            <a:r>
              <a:rPr lang="vi-VN" sz="2000" dirty="0"/>
              <a:t>Bài tập 1: Nhấp nháy đèn ở chân số 8 trong 1s và tắt trong 1s </a:t>
            </a:r>
          </a:p>
          <a:p>
            <a:pPr marL="0" indent="0">
              <a:buNone/>
            </a:pPr>
            <a:r>
              <a:rPr lang="vi-VN" sz="2000" dirty="0"/>
              <a:t>   </a:t>
            </a:r>
            <a:r>
              <a:rPr lang="vi-VN" sz="2000" u="sng" dirty="0"/>
              <a:t>Sơ đồ nguyên lí :</a:t>
            </a:r>
          </a:p>
          <a:p>
            <a:pPr marL="0" indent="0">
              <a:buNone/>
            </a:pPr>
            <a:endParaRPr lang="vi-VN" sz="2000" b="1" dirty="0"/>
          </a:p>
          <a:p>
            <a:pPr marL="0" indent="0">
              <a:buNone/>
            </a:pPr>
            <a:endParaRPr lang="vi-VN" sz="2000" dirty="0"/>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D1AADE8C-C763-61F7-54EF-9E1F1887F226}"/>
              </a:ext>
            </a:extLst>
          </p:cNvPr>
          <p:cNvSpPr>
            <a:spLocks noGrp="1"/>
          </p:cNvSpPr>
          <p:nvPr>
            <p:ph type="sldNum" sz="quarter" idx="12"/>
          </p:nvPr>
        </p:nvSpPr>
        <p:spPr/>
        <p:txBody>
          <a:bodyPr/>
          <a:lstStyle/>
          <a:p>
            <a:fld id="{9EA0BE3B-158A-4EDF-80DC-E394A0D1600F}" type="slidenum">
              <a:rPr lang="en-US" smtClean="0"/>
              <a:pPr/>
              <a:t>11</a:t>
            </a:fld>
            <a:endParaRPr lang="en-US"/>
          </a:p>
        </p:txBody>
      </p:sp>
      <p:pic>
        <p:nvPicPr>
          <p:cNvPr id="6" name="Picture 5">
            <a:extLst>
              <a:ext uri="{FF2B5EF4-FFF2-40B4-BE49-F238E27FC236}">
                <a16:creationId xmlns:a16="http://schemas.microsoft.com/office/drawing/2014/main" id="{7382BFC3-145C-5165-6DA4-FD5494794F07}"/>
              </a:ext>
            </a:extLst>
          </p:cNvPr>
          <p:cNvPicPr>
            <a:picLocks noChangeAspect="1"/>
          </p:cNvPicPr>
          <p:nvPr/>
        </p:nvPicPr>
        <p:blipFill>
          <a:blip r:embed="rId2"/>
          <a:stretch>
            <a:fillRect/>
          </a:stretch>
        </p:blipFill>
        <p:spPr>
          <a:xfrm>
            <a:off x="1176497" y="2513165"/>
            <a:ext cx="5439534" cy="3458058"/>
          </a:xfrm>
          <a:prstGeom prst="rect">
            <a:avLst/>
          </a:prstGeom>
        </p:spPr>
      </p:pic>
    </p:spTree>
    <p:extLst>
      <p:ext uri="{BB962C8B-B14F-4D97-AF65-F5344CB8AC3E}">
        <p14:creationId xmlns:p14="http://schemas.microsoft.com/office/powerpoint/2010/main" val="280188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AA44-4A56-F0E8-6C1E-3922B5CD4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322E0-3CD2-3CE3-2671-BB16B70B5D9E}"/>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AF4533E1-7663-C9E3-659D-8F836594B8FC}"/>
              </a:ext>
            </a:extLst>
          </p:cNvPr>
          <p:cNvSpPr>
            <a:spLocks noGrp="1"/>
          </p:cNvSpPr>
          <p:nvPr>
            <p:ph type="body" sz="quarter" idx="13"/>
          </p:nvPr>
        </p:nvSpPr>
        <p:spPr/>
        <p:txBody>
          <a:bodyPr/>
          <a:lstStyle/>
          <a:p>
            <a:pPr marL="457200" indent="-457200">
              <a:buAutoNum type="arabicPeriod"/>
            </a:pPr>
            <a:r>
              <a:rPr lang="vi-VN" sz="2000" b="1" dirty="0"/>
              <a:t>Điều khiển LED bằng Digital</a:t>
            </a:r>
          </a:p>
          <a:p>
            <a:pPr marL="0" indent="0">
              <a:buNone/>
            </a:pPr>
            <a:r>
              <a:rPr lang="vi-VN" sz="2000" b="1" dirty="0"/>
              <a:t>	</a:t>
            </a:r>
            <a:r>
              <a:rPr lang="vi-VN" sz="2000" dirty="0"/>
              <a:t>Bài tập 1: Nhấp nháy đèn ở chân số 8 trong 1s và tắt trong 1s </a:t>
            </a:r>
          </a:p>
          <a:p>
            <a:pPr marL="0" indent="0">
              <a:buNone/>
            </a:pPr>
            <a:r>
              <a:rPr lang="vi-VN" sz="2000" dirty="0"/>
              <a:t>   </a:t>
            </a:r>
            <a:r>
              <a:rPr lang="vi-VN" sz="2000" u="sng" dirty="0"/>
              <a:t>Code chương trình :</a:t>
            </a:r>
          </a:p>
          <a:p>
            <a:pPr marL="0" indent="0">
              <a:buNone/>
            </a:pPr>
            <a:endParaRPr lang="vi-VN" sz="2000" b="1" dirty="0"/>
          </a:p>
          <a:p>
            <a:pPr marL="0" indent="0">
              <a:buNone/>
            </a:pPr>
            <a:endParaRPr lang="vi-VN" sz="2000" b="1" dirty="0"/>
          </a:p>
          <a:p>
            <a:pPr marL="0" indent="0">
              <a:buNone/>
            </a:pPr>
            <a:endParaRPr lang="vi-VN" sz="2000" dirty="0"/>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F5AD85ED-1827-75F2-F715-276E913B9472}"/>
              </a:ext>
            </a:extLst>
          </p:cNvPr>
          <p:cNvSpPr>
            <a:spLocks noGrp="1"/>
          </p:cNvSpPr>
          <p:nvPr>
            <p:ph type="sldNum" sz="quarter" idx="12"/>
          </p:nvPr>
        </p:nvSpPr>
        <p:spPr/>
        <p:txBody>
          <a:bodyPr/>
          <a:lstStyle/>
          <a:p>
            <a:fld id="{9EA0BE3B-158A-4EDF-80DC-E394A0D1600F}" type="slidenum">
              <a:rPr lang="en-US" smtClean="0"/>
              <a:pPr/>
              <a:t>12</a:t>
            </a:fld>
            <a:endParaRPr lang="en-US"/>
          </a:p>
        </p:txBody>
      </p:sp>
      <p:pic>
        <p:nvPicPr>
          <p:cNvPr id="7" name="Picture 6">
            <a:extLst>
              <a:ext uri="{FF2B5EF4-FFF2-40B4-BE49-F238E27FC236}">
                <a16:creationId xmlns:a16="http://schemas.microsoft.com/office/drawing/2014/main" id="{F7401AE8-F3F6-B636-441A-7B0BDD511F04}"/>
              </a:ext>
            </a:extLst>
          </p:cNvPr>
          <p:cNvPicPr>
            <a:picLocks noChangeAspect="1"/>
          </p:cNvPicPr>
          <p:nvPr/>
        </p:nvPicPr>
        <p:blipFill>
          <a:blip r:embed="rId2"/>
          <a:stretch>
            <a:fillRect/>
          </a:stretch>
        </p:blipFill>
        <p:spPr>
          <a:xfrm>
            <a:off x="1223100" y="2529752"/>
            <a:ext cx="7192379" cy="3057952"/>
          </a:xfrm>
          <a:prstGeom prst="rect">
            <a:avLst/>
          </a:prstGeom>
        </p:spPr>
      </p:pic>
    </p:spTree>
    <p:extLst>
      <p:ext uri="{BB962C8B-B14F-4D97-AF65-F5344CB8AC3E}">
        <p14:creationId xmlns:p14="http://schemas.microsoft.com/office/powerpoint/2010/main" val="1908723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0E84D-C1D7-A51D-5A88-13102C056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70A5-DDF9-527E-298E-EB699C94C766}"/>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01D59499-5B6F-41F7-AB4A-6AA0FD943F71}"/>
              </a:ext>
            </a:extLst>
          </p:cNvPr>
          <p:cNvSpPr>
            <a:spLocks noGrp="1"/>
          </p:cNvSpPr>
          <p:nvPr>
            <p:ph type="body" sz="quarter" idx="13"/>
          </p:nvPr>
        </p:nvSpPr>
        <p:spPr/>
        <p:txBody>
          <a:bodyPr/>
          <a:lstStyle/>
          <a:p>
            <a:pPr marL="457200" indent="-457200">
              <a:buAutoNum type="arabicPeriod"/>
            </a:pPr>
            <a:r>
              <a:rPr lang="vi-VN" sz="2000" dirty="0"/>
              <a:t>Điều khiển LED bằng digital</a:t>
            </a:r>
          </a:p>
          <a:p>
            <a:pPr marL="0" indent="0">
              <a:buNone/>
            </a:pPr>
            <a:r>
              <a:rPr lang="vi-VN" sz="2000" dirty="0"/>
              <a:t>	Bài tập 2: Tạo hiệu ứng nhấp nháy cho 8 đèn LED</a:t>
            </a:r>
          </a:p>
          <a:p>
            <a:pPr marL="0" indent="0">
              <a:buNone/>
            </a:pPr>
            <a:r>
              <a:rPr lang="vi-VN" sz="2000" dirty="0"/>
              <a:t>  </a:t>
            </a:r>
            <a:r>
              <a:rPr lang="vi-VN" sz="2000" u="sng" dirty="0"/>
              <a:t>Sơ đồ nguyên lí:</a:t>
            </a:r>
          </a:p>
          <a:p>
            <a:pPr marL="0" indent="0">
              <a:buNone/>
            </a:pPr>
            <a:endParaRPr lang="vi-VN" sz="2000" u="sng" dirty="0"/>
          </a:p>
          <a:p>
            <a:pPr marL="0" indent="0">
              <a:buNone/>
            </a:pPr>
            <a:r>
              <a:rPr lang="vi-VN" sz="2000" dirty="0"/>
              <a:t>  </a:t>
            </a:r>
            <a:endParaRPr lang="en-US" sz="2000" dirty="0"/>
          </a:p>
        </p:txBody>
      </p:sp>
      <p:sp>
        <p:nvSpPr>
          <p:cNvPr id="4" name="Slide Number Placeholder 3">
            <a:extLst>
              <a:ext uri="{FF2B5EF4-FFF2-40B4-BE49-F238E27FC236}">
                <a16:creationId xmlns:a16="http://schemas.microsoft.com/office/drawing/2014/main" id="{B20B3FCC-F228-519F-8C3B-8579DAFADBFD}"/>
              </a:ext>
            </a:extLst>
          </p:cNvPr>
          <p:cNvSpPr>
            <a:spLocks noGrp="1"/>
          </p:cNvSpPr>
          <p:nvPr>
            <p:ph type="sldNum" sz="quarter" idx="12"/>
          </p:nvPr>
        </p:nvSpPr>
        <p:spPr/>
        <p:txBody>
          <a:bodyPr/>
          <a:lstStyle/>
          <a:p>
            <a:fld id="{9EA0BE3B-158A-4EDF-80DC-E394A0D1600F}" type="slidenum">
              <a:rPr lang="en-US" smtClean="0"/>
              <a:pPr/>
              <a:t>13</a:t>
            </a:fld>
            <a:endParaRPr lang="en-US"/>
          </a:p>
        </p:txBody>
      </p:sp>
      <p:pic>
        <p:nvPicPr>
          <p:cNvPr id="6" name="Picture 5">
            <a:extLst>
              <a:ext uri="{FF2B5EF4-FFF2-40B4-BE49-F238E27FC236}">
                <a16:creationId xmlns:a16="http://schemas.microsoft.com/office/drawing/2014/main" id="{40DB78AD-890A-E8BD-8F87-E848EEDD7C8A}"/>
              </a:ext>
            </a:extLst>
          </p:cNvPr>
          <p:cNvPicPr>
            <a:picLocks noChangeAspect="1"/>
          </p:cNvPicPr>
          <p:nvPr/>
        </p:nvPicPr>
        <p:blipFill>
          <a:blip r:embed="rId2"/>
          <a:stretch>
            <a:fillRect/>
          </a:stretch>
        </p:blipFill>
        <p:spPr>
          <a:xfrm>
            <a:off x="1563086" y="2176906"/>
            <a:ext cx="6477904" cy="3648584"/>
          </a:xfrm>
          <a:prstGeom prst="rect">
            <a:avLst/>
          </a:prstGeom>
        </p:spPr>
      </p:pic>
    </p:spTree>
    <p:extLst>
      <p:ext uri="{BB962C8B-B14F-4D97-AF65-F5344CB8AC3E}">
        <p14:creationId xmlns:p14="http://schemas.microsoft.com/office/powerpoint/2010/main" val="773426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236FC-821E-8515-E067-9642ABCDE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121CD-FAEC-BA30-4993-0FBA7A73EDB7}"/>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3FB967F6-85D7-7FE2-E71E-3654C91EF332}"/>
              </a:ext>
            </a:extLst>
          </p:cNvPr>
          <p:cNvSpPr>
            <a:spLocks noGrp="1"/>
          </p:cNvSpPr>
          <p:nvPr>
            <p:ph type="body" sz="quarter" idx="13"/>
          </p:nvPr>
        </p:nvSpPr>
        <p:spPr/>
        <p:txBody>
          <a:bodyPr/>
          <a:lstStyle/>
          <a:p>
            <a:pPr marL="457200" indent="-457200">
              <a:buAutoNum type="arabicPeriod"/>
            </a:pPr>
            <a:r>
              <a:rPr lang="vi-VN" sz="2000" b="1" dirty="0"/>
              <a:t>Điều khiển LED bằng digital</a:t>
            </a:r>
          </a:p>
          <a:p>
            <a:pPr marL="0" indent="0">
              <a:buNone/>
            </a:pPr>
            <a:r>
              <a:rPr lang="vi-VN" sz="2000" dirty="0"/>
              <a:t>	Bài tập 2: Tạo hiệu ứng nhấp nháy cho 8 đèn LED</a:t>
            </a:r>
          </a:p>
          <a:p>
            <a:pPr marL="0" indent="0">
              <a:buNone/>
            </a:pPr>
            <a:r>
              <a:rPr lang="vi-VN" sz="2000" dirty="0"/>
              <a:t>  Code chương trình:</a:t>
            </a:r>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5F197E91-A028-5318-033A-1CDC426CA54A}"/>
              </a:ext>
            </a:extLst>
          </p:cNvPr>
          <p:cNvSpPr>
            <a:spLocks noGrp="1"/>
          </p:cNvSpPr>
          <p:nvPr>
            <p:ph type="sldNum" sz="quarter" idx="12"/>
          </p:nvPr>
        </p:nvSpPr>
        <p:spPr/>
        <p:txBody>
          <a:bodyPr/>
          <a:lstStyle/>
          <a:p>
            <a:fld id="{9EA0BE3B-158A-4EDF-80DC-E394A0D1600F}" type="slidenum">
              <a:rPr lang="en-US" smtClean="0"/>
              <a:pPr/>
              <a:t>14</a:t>
            </a:fld>
            <a:endParaRPr lang="en-US"/>
          </a:p>
        </p:txBody>
      </p:sp>
      <p:pic>
        <p:nvPicPr>
          <p:cNvPr id="8" name="Picture 7">
            <a:extLst>
              <a:ext uri="{FF2B5EF4-FFF2-40B4-BE49-F238E27FC236}">
                <a16:creationId xmlns:a16="http://schemas.microsoft.com/office/drawing/2014/main" id="{C4B19393-A5F6-2CDB-1F34-8ABDC7A8A647}"/>
              </a:ext>
            </a:extLst>
          </p:cNvPr>
          <p:cNvPicPr>
            <a:picLocks noChangeAspect="1"/>
          </p:cNvPicPr>
          <p:nvPr/>
        </p:nvPicPr>
        <p:blipFill>
          <a:blip r:embed="rId2"/>
          <a:stretch>
            <a:fillRect/>
          </a:stretch>
        </p:blipFill>
        <p:spPr>
          <a:xfrm>
            <a:off x="2264256" y="2350142"/>
            <a:ext cx="6582694" cy="3248478"/>
          </a:xfrm>
          <a:prstGeom prst="rect">
            <a:avLst/>
          </a:prstGeom>
        </p:spPr>
      </p:pic>
    </p:spTree>
    <p:extLst>
      <p:ext uri="{BB962C8B-B14F-4D97-AF65-F5344CB8AC3E}">
        <p14:creationId xmlns:p14="http://schemas.microsoft.com/office/powerpoint/2010/main" val="1345144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10BF7-E06C-C3B7-9371-BC21AF8E1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383D0-A8E7-5FD5-3EE9-3950A08A71DB}"/>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865F7ECD-CA47-0D06-6656-A19812E2C61F}"/>
              </a:ext>
            </a:extLst>
          </p:cNvPr>
          <p:cNvSpPr>
            <a:spLocks noGrp="1"/>
          </p:cNvSpPr>
          <p:nvPr>
            <p:ph type="body" sz="quarter" idx="13"/>
          </p:nvPr>
        </p:nvSpPr>
        <p:spPr/>
        <p:txBody>
          <a:bodyPr/>
          <a:lstStyle/>
          <a:p>
            <a:pPr marL="0" indent="0">
              <a:buNone/>
            </a:pPr>
            <a:r>
              <a:rPr lang="vi-VN" sz="2000" b="1" dirty="0"/>
              <a:t>2.    Điều khiển LED bằng Analog</a:t>
            </a:r>
          </a:p>
          <a:p>
            <a:pPr marL="0" indent="0">
              <a:buNone/>
            </a:pPr>
            <a:r>
              <a:rPr lang="vi-VN" sz="2000" dirty="0"/>
              <a:t>  - PWM </a:t>
            </a:r>
          </a:p>
          <a:p>
            <a:pPr marL="0" indent="0">
              <a:buNone/>
            </a:pPr>
            <a:endParaRPr lang="en-US" sz="2000" dirty="0"/>
          </a:p>
        </p:txBody>
      </p:sp>
      <p:sp>
        <p:nvSpPr>
          <p:cNvPr id="4" name="Slide Number Placeholder 3">
            <a:extLst>
              <a:ext uri="{FF2B5EF4-FFF2-40B4-BE49-F238E27FC236}">
                <a16:creationId xmlns:a16="http://schemas.microsoft.com/office/drawing/2014/main" id="{BB0E4AC3-E30B-B0AB-A02B-82ED03FEB7BA}"/>
              </a:ext>
            </a:extLst>
          </p:cNvPr>
          <p:cNvSpPr>
            <a:spLocks noGrp="1"/>
          </p:cNvSpPr>
          <p:nvPr>
            <p:ph type="sldNum" sz="quarter" idx="12"/>
          </p:nvPr>
        </p:nvSpPr>
        <p:spPr/>
        <p:txBody>
          <a:bodyPr/>
          <a:lstStyle/>
          <a:p>
            <a:fld id="{9EA0BE3B-158A-4EDF-80DC-E394A0D1600F}" type="slidenum">
              <a:rPr lang="en-US" smtClean="0"/>
              <a:pPr/>
              <a:t>15</a:t>
            </a:fld>
            <a:endParaRPr lang="en-US"/>
          </a:p>
        </p:txBody>
      </p:sp>
      <p:pic>
        <p:nvPicPr>
          <p:cNvPr id="5" name="Picture 4">
            <a:extLst>
              <a:ext uri="{FF2B5EF4-FFF2-40B4-BE49-F238E27FC236}">
                <a16:creationId xmlns:a16="http://schemas.microsoft.com/office/drawing/2014/main" id="{A0D6A13E-1304-53CA-C99C-754D6D93C18D}"/>
              </a:ext>
            </a:extLst>
          </p:cNvPr>
          <p:cNvPicPr>
            <a:picLocks noChangeAspect="1"/>
          </p:cNvPicPr>
          <p:nvPr/>
        </p:nvPicPr>
        <p:blipFill>
          <a:blip r:embed="rId2"/>
          <a:stretch>
            <a:fillRect/>
          </a:stretch>
        </p:blipFill>
        <p:spPr>
          <a:xfrm>
            <a:off x="1840134" y="1740011"/>
            <a:ext cx="6191059" cy="2285696"/>
          </a:xfrm>
          <a:prstGeom prst="rect">
            <a:avLst/>
          </a:prstGeom>
        </p:spPr>
      </p:pic>
      <p:sp>
        <p:nvSpPr>
          <p:cNvPr id="6" name="TextBox 5">
            <a:extLst>
              <a:ext uri="{FF2B5EF4-FFF2-40B4-BE49-F238E27FC236}">
                <a16:creationId xmlns:a16="http://schemas.microsoft.com/office/drawing/2014/main" id="{E5A4A6A4-81BA-88F7-8B9A-AAC21C2B4EB7}"/>
              </a:ext>
            </a:extLst>
          </p:cNvPr>
          <p:cNvSpPr txBox="1"/>
          <p:nvPr/>
        </p:nvSpPr>
        <p:spPr>
          <a:xfrm>
            <a:off x="1362973" y="4216897"/>
            <a:ext cx="9920378" cy="1754326"/>
          </a:xfrm>
          <a:prstGeom prst="rect">
            <a:avLst/>
          </a:prstGeom>
          <a:noFill/>
        </p:spPr>
        <p:txBody>
          <a:bodyPr wrap="square" rtlCol="0">
            <a:spAutoFit/>
          </a:bodyPr>
          <a:lstStyle/>
          <a:p>
            <a:r>
              <a:rPr lang="vi-VN" dirty="0"/>
              <a:t>T</a:t>
            </a:r>
            <a:r>
              <a:rPr lang="vi-VN" sz="1100" dirty="0"/>
              <a:t>ON</a:t>
            </a:r>
            <a:r>
              <a:rPr lang="vi-VN" dirty="0"/>
              <a:t>: Thời gian xung ở mức cao (5V)</a:t>
            </a:r>
          </a:p>
          <a:p>
            <a:r>
              <a:rPr lang="vi-VN" dirty="0"/>
              <a:t>T</a:t>
            </a:r>
            <a:r>
              <a:rPr lang="vi-VN" sz="1100" dirty="0"/>
              <a:t>OFF</a:t>
            </a:r>
            <a:r>
              <a:rPr lang="vi-VN" dirty="0"/>
              <a:t>: Thời gian xung ở mức thấp (0V)</a:t>
            </a:r>
          </a:p>
          <a:p>
            <a:r>
              <a:rPr lang="vi-VN" dirty="0"/>
              <a:t>T=T</a:t>
            </a:r>
            <a:r>
              <a:rPr lang="vi-VN" sz="1100" dirty="0"/>
              <a:t>ON</a:t>
            </a:r>
            <a:r>
              <a:rPr lang="vi-VN" dirty="0"/>
              <a:t>+T</a:t>
            </a:r>
            <a:r>
              <a:rPr lang="vi-VN" sz="1100" dirty="0"/>
              <a:t>OFF</a:t>
            </a:r>
            <a:r>
              <a:rPr lang="vi-VN" dirty="0"/>
              <a:t>: Chu kì của xung</a:t>
            </a:r>
          </a:p>
          <a:p>
            <a:r>
              <a:rPr lang="vi-VN" dirty="0"/>
              <a:t>Duty cycde=T</a:t>
            </a:r>
            <a:r>
              <a:rPr lang="vi-VN" sz="1100" dirty="0"/>
              <a:t>ON</a:t>
            </a:r>
            <a:r>
              <a:rPr lang="vi-VN" dirty="0"/>
              <a:t> :T  Thời gian xung ở mức cao trong 1 chu kì</a:t>
            </a:r>
          </a:p>
          <a:p>
            <a:r>
              <a:rPr lang="vi-VN" dirty="0"/>
              <a:t>V=5 * Duty cycle : Điện áp ra trung bình</a:t>
            </a:r>
            <a:endParaRPr lang="en-US" dirty="0"/>
          </a:p>
          <a:p>
            <a:endParaRPr lang="en-US" dirty="0"/>
          </a:p>
        </p:txBody>
      </p:sp>
    </p:spTree>
    <p:extLst>
      <p:ext uri="{BB962C8B-B14F-4D97-AF65-F5344CB8AC3E}">
        <p14:creationId xmlns:p14="http://schemas.microsoft.com/office/powerpoint/2010/main" val="2984345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6B31B-FD39-D37C-D8C9-2D9A74B83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D9DA1-4B71-5D71-75CA-94A1196CABFF}"/>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E748B7EA-7453-B6E9-47BF-D8B3EFFF9AFB}"/>
              </a:ext>
            </a:extLst>
          </p:cNvPr>
          <p:cNvSpPr>
            <a:spLocks noGrp="1"/>
          </p:cNvSpPr>
          <p:nvPr>
            <p:ph type="body" sz="quarter" idx="13"/>
          </p:nvPr>
        </p:nvSpPr>
        <p:spPr/>
        <p:txBody>
          <a:bodyPr/>
          <a:lstStyle/>
          <a:p>
            <a:pPr marL="0" indent="0">
              <a:buNone/>
            </a:pPr>
            <a:r>
              <a:rPr lang="vi-VN" sz="2000" b="1" dirty="0"/>
              <a:t>2.    Điều khiển LED bằng Analog</a:t>
            </a:r>
          </a:p>
          <a:p>
            <a:pPr marL="0" indent="0">
              <a:buNone/>
            </a:pPr>
            <a:r>
              <a:rPr lang="vi-VN" sz="2000" dirty="0"/>
              <a:t>  a. PWM </a:t>
            </a:r>
          </a:p>
          <a:p>
            <a:pPr marL="0" indent="0">
              <a:buNone/>
            </a:pPr>
            <a:endParaRPr lang="en-US" sz="2000" dirty="0"/>
          </a:p>
        </p:txBody>
      </p:sp>
      <p:sp>
        <p:nvSpPr>
          <p:cNvPr id="4" name="Slide Number Placeholder 3">
            <a:extLst>
              <a:ext uri="{FF2B5EF4-FFF2-40B4-BE49-F238E27FC236}">
                <a16:creationId xmlns:a16="http://schemas.microsoft.com/office/drawing/2014/main" id="{4F88F82F-FFA5-6CAD-5614-7A6DEF382F00}"/>
              </a:ext>
            </a:extLst>
          </p:cNvPr>
          <p:cNvSpPr>
            <a:spLocks noGrp="1"/>
          </p:cNvSpPr>
          <p:nvPr>
            <p:ph type="sldNum" sz="quarter" idx="12"/>
          </p:nvPr>
        </p:nvSpPr>
        <p:spPr/>
        <p:txBody>
          <a:bodyPr/>
          <a:lstStyle/>
          <a:p>
            <a:fld id="{9EA0BE3B-158A-4EDF-80DC-E394A0D1600F}" type="slidenum">
              <a:rPr lang="en-US" smtClean="0"/>
              <a:pPr/>
              <a:t>16</a:t>
            </a:fld>
            <a:endParaRPr lang="en-US"/>
          </a:p>
        </p:txBody>
      </p:sp>
      <p:pic>
        <p:nvPicPr>
          <p:cNvPr id="7" name="Picture 6">
            <a:extLst>
              <a:ext uri="{FF2B5EF4-FFF2-40B4-BE49-F238E27FC236}">
                <a16:creationId xmlns:a16="http://schemas.microsoft.com/office/drawing/2014/main" id="{143B590A-B95E-9409-3E09-0E36696324E7}"/>
              </a:ext>
            </a:extLst>
          </p:cNvPr>
          <p:cNvPicPr>
            <a:picLocks noChangeAspect="1"/>
          </p:cNvPicPr>
          <p:nvPr/>
        </p:nvPicPr>
        <p:blipFill>
          <a:blip r:embed="rId2"/>
          <a:stretch>
            <a:fillRect/>
          </a:stretch>
        </p:blipFill>
        <p:spPr>
          <a:xfrm>
            <a:off x="1259184" y="1921128"/>
            <a:ext cx="6861419" cy="3378054"/>
          </a:xfrm>
          <a:prstGeom prst="rect">
            <a:avLst/>
          </a:prstGeom>
        </p:spPr>
      </p:pic>
    </p:spTree>
    <p:extLst>
      <p:ext uri="{BB962C8B-B14F-4D97-AF65-F5344CB8AC3E}">
        <p14:creationId xmlns:p14="http://schemas.microsoft.com/office/powerpoint/2010/main" val="2989466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661B5-A62F-711D-8137-C799BF814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DAA16-4554-C5CA-EDFC-D850D22455F5}"/>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C091F1BE-3EC3-A35B-8ACD-0668508CC173}"/>
              </a:ext>
            </a:extLst>
          </p:cNvPr>
          <p:cNvSpPr>
            <a:spLocks noGrp="1"/>
          </p:cNvSpPr>
          <p:nvPr>
            <p:ph type="body" sz="quarter" idx="13"/>
          </p:nvPr>
        </p:nvSpPr>
        <p:spPr/>
        <p:txBody>
          <a:bodyPr/>
          <a:lstStyle/>
          <a:p>
            <a:pPr marL="0" indent="0">
              <a:buNone/>
            </a:pPr>
            <a:r>
              <a:rPr lang="vi-VN" sz="2000" dirty="0"/>
              <a:t>2.    Điều khiển LED bằng Analog</a:t>
            </a:r>
          </a:p>
          <a:p>
            <a:pPr marL="0" indent="0">
              <a:buNone/>
            </a:pPr>
            <a:r>
              <a:rPr lang="vi-VN" sz="2000" dirty="0"/>
              <a:t>  b. Điều khiển LED bằng Analog</a:t>
            </a:r>
          </a:p>
          <a:p>
            <a:pPr marL="0" indent="0">
              <a:buNone/>
            </a:pPr>
            <a:r>
              <a:rPr lang="vi-VN" sz="2000" dirty="0"/>
              <a:t>     Tên hàm:</a:t>
            </a:r>
          </a:p>
          <a:p>
            <a:pPr marL="0" indent="0">
              <a:buNone/>
            </a:pPr>
            <a:r>
              <a:rPr lang="vi-VN" sz="2000" dirty="0"/>
              <a:t>     Chức năng: Ghi một giá trị tương tự (PWM) ra chân pin, sau khi gội hàm này một lần thì sóng vuông sẽ duy trì cho đến khi chúng ta gọi lại hàm này</a:t>
            </a:r>
          </a:p>
          <a:p>
            <a:pPr marL="0" indent="0">
              <a:buNone/>
            </a:pPr>
            <a:r>
              <a:rPr lang="vi-VN" sz="2000" dirty="0"/>
              <a:t>   </a:t>
            </a:r>
            <a:r>
              <a:rPr lang="vi-VN" sz="2000" b="1" dirty="0"/>
              <a:t>Tần số mặc định của Arduino là 500Hz</a:t>
            </a:r>
          </a:p>
          <a:p>
            <a:pPr marL="0" indent="0">
              <a:buNone/>
            </a:pPr>
            <a:r>
              <a:rPr lang="vi-VN" sz="2000" dirty="0"/>
              <a:t>  -pin: chân cần xung xuất ra, trên Arduino Uno có tất cả 6 chân: 3,5,6,9,10,11( những chân có kí hiệu dấu~ trên board mạch)</a:t>
            </a:r>
          </a:p>
          <a:p>
            <a:pPr marL="0" indent="0">
              <a:buNone/>
            </a:pPr>
            <a:r>
              <a:rPr lang="vi-VN" sz="2000" dirty="0"/>
              <a:t>  -Value: độ rộng xung cần xuất ra có giá trị từ 0 -&gt; 255 ( tương ứng duty sẽ chạy từ 0 đến 100% )</a:t>
            </a:r>
            <a:endParaRPr lang="en-US" sz="2000" dirty="0"/>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620E7E35-52D4-55A4-6CFA-236FD731C48B}"/>
              </a:ext>
            </a:extLst>
          </p:cNvPr>
          <p:cNvSpPr>
            <a:spLocks noGrp="1"/>
          </p:cNvSpPr>
          <p:nvPr>
            <p:ph type="sldNum" sz="quarter" idx="12"/>
          </p:nvPr>
        </p:nvSpPr>
        <p:spPr/>
        <p:txBody>
          <a:bodyPr/>
          <a:lstStyle/>
          <a:p>
            <a:fld id="{9EA0BE3B-158A-4EDF-80DC-E394A0D1600F}" type="slidenum">
              <a:rPr lang="en-US" smtClean="0"/>
              <a:pPr/>
              <a:t>17</a:t>
            </a:fld>
            <a:endParaRPr lang="en-US"/>
          </a:p>
        </p:txBody>
      </p:sp>
      <p:pic>
        <p:nvPicPr>
          <p:cNvPr id="5" name="Picture 4">
            <a:extLst>
              <a:ext uri="{FF2B5EF4-FFF2-40B4-BE49-F238E27FC236}">
                <a16:creationId xmlns:a16="http://schemas.microsoft.com/office/drawing/2014/main" id="{CB892D89-EB60-4806-6A43-6F89F8DCA033}"/>
              </a:ext>
            </a:extLst>
          </p:cNvPr>
          <p:cNvPicPr>
            <a:picLocks noChangeAspect="1"/>
          </p:cNvPicPr>
          <p:nvPr/>
        </p:nvPicPr>
        <p:blipFill>
          <a:blip r:embed="rId2"/>
          <a:stretch>
            <a:fillRect/>
          </a:stretch>
        </p:blipFill>
        <p:spPr>
          <a:xfrm>
            <a:off x="1834604" y="1925831"/>
            <a:ext cx="4382112" cy="228632"/>
          </a:xfrm>
          <a:prstGeom prst="rect">
            <a:avLst/>
          </a:prstGeom>
        </p:spPr>
      </p:pic>
    </p:spTree>
    <p:extLst>
      <p:ext uri="{BB962C8B-B14F-4D97-AF65-F5344CB8AC3E}">
        <p14:creationId xmlns:p14="http://schemas.microsoft.com/office/powerpoint/2010/main" val="2393124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A2941-9243-E959-5F2A-A4C2CAEF9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7B1F1-C631-BABD-6200-5F385853EDB4}"/>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593FAB95-3B56-C748-145B-B80D6C9BD370}"/>
              </a:ext>
            </a:extLst>
          </p:cNvPr>
          <p:cNvSpPr>
            <a:spLocks noGrp="1"/>
          </p:cNvSpPr>
          <p:nvPr>
            <p:ph type="body" sz="quarter" idx="13"/>
          </p:nvPr>
        </p:nvSpPr>
        <p:spPr/>
        <p:txBody>
          <a:bodyPr/>
          <a:lstStyle/>
          <a:p>
            <a:pPr marL="0" indent="0">
              <a:buNone/>
            </a:pPr>
            <a:r>
              <a:rPr lang="vi-VN" sz="2000" dirty="0"/>
              <a:t>2.    Điều khiển LED bằng Analog</a:t>
            </a:r>
          </a:p>
          <a:p>
            <a:pPr marL="0" indent="0">
              <a:buNone/>
            </a:pPr>
            <a:r>
              <a:rPr lang="vi-VN" sz="2000" dirty="0"/>
              <a:t>  Bài tập : Viết chương trình thay đổi độ sáng của đèn sáng 50%</a:t>
            </a:r>
          </a:p>
          <a:p>
            <a:pPr marL="0" indent="0">
              <a:buNone/>
            </a:pPr>
            <a:r>
              <a:rPr lang="vi-VN" sz="2000" dirty="0"/>
              <a:t>  </a:t>
            </a:r>
            <a:r>
              <a:rPr lang="vi-VN" sz="2000" u="sng" dirty="0"/>
              <a:t>sơ đồ nguyên lí:</a:t>
            </a:r>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0D54C023-3690-A043-BCB7-B91E88624B7F}"/>
              </a:ext>
            </a:extLst>
          </p:cNvPr>
          <p:cNvSpPr>
            <a:spLocks noGrp="1"/>
          </p:cNvSpPr>
          <p:nvPr>
            <p:ph type="sldNum" sz="quarter" idx="12"/>
          </p:nvPr>
        </p:nvSpPr>
        <p:spPr/>
        <p:txBody>
          <a:bodyPr/>
          <a:lstStyle/>
          <a:p>
            <a:fld id="{9EA0BE3B-158A-4EDF-80DC-E394A0D1600F}" type="slidenum">
              <a:rPr lang="en-US" smtClean="0"/>
              <a:pPr/>
              <a:t>18</a:t>
            </a:fld>
            <a:endParaRPr lang="en-US"/>
          </a:p>
        </p:txBody>
      </p:sp>
      <p:pic>
        <p:nvPicPr>
          <p:cNvPr id="5" name="Picture 4">
            <a:extLst>
              <a:ext uri="{FF2B5EF4-FFF2-40B4-BE49-F238E27FC236}">
                <a16:creationId xmlns:a16="http://schemas.microsoft.com/office/drawing/2014/main" id="{B62B8F10-69D3-FF2B-B3BD-7F6F014CB5F1}"/>
              </a:ext>
            </a:extLst>
          </p:cNvPr>
          <p:cNvPicPr>
            <a:picLocks noChangeAspect="1"/>
          </p:cNvPicPr>
          <p:nvPr/>
        </p:nvPicPr>
        <p:blipFill>
          <a:blip r:embed="rId2"/>
          <a:stretch>
            <a:fillRect/>
          </a:stretch>
        </p:blipFill>
        <p:spPr>
          <a:xfrm>
            <a:off x="2345194" y="2415720"/>
            <a:ext cx="5701525" cy="3630184"/>
          </a:xfrm>
          <a:prstGeom prst="rect">
            <a:avLst/>
          </a:prstGeom>
        </p:spPr>
      </p:pic>
    </p:spTree>
    <p:extLst>
      <p:ext uri="{BB962C8B-B14F-4D97-AF65-F5344CB8AC3E}">
        <p14:creationId xmlns:p14="http://schemas.microsoft.com/office/powerpoint/2010/main" val="1984426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74E9A-2F21-EAEE-0416-D451BB9B4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B1BE0-5F86-00FE-E933-31931DC7D01E}"/>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95D717F4-18CB-556A-BAEC-4DCC7B34C97D}"/>
              </a:ext>
            </a:extLst>
          </p:cNvPr>
          <p:cNvSpPr>
            <a:spLocks noGrp="1"/>
          </p:cNvSpPr>
          <p:nvPr>
            <p:ph type="body" sz="quarter" idx="13"/>
          </p:nvPr>
        </p:nvSpPr>
        <p:spPr/>
        <p:txBody>
          <a:bodyPr/>
          <a:lstStyle/>
          <a:p>
            <a:pPr marL="0" indent="0">
              <a:buNone/>
            </a:pPr>
            <a:r>
              <a:rPr lang="vi-VN" sz="2000" dirty="0"/>
              <a:t>2.    Điều khiển LED bằng Analog</a:t>
            </a:r>
          </a:p>
          <a:p>
            <a:pPr marL="0" indent="0">
              <a:buNone/>
            </a:pPr>
            <a:r>
              <a:rPr lang="vi-VN" sz="2000" dirty="0"/>
              <a:t>  Bài tập : Viết chương trình thay đổi độ sáng của đèn sáng 50%, sáng 1 giây và tắt trong 1s</a:t>
            </a:r>
          </a:p>
          <a:p>
            <a:pPr marL="0" indent="0">
              <a:buNone/>
            </a:pPr>
            <a:r>
              <a:rPr lang="vi-VN" sz="2000" dirty="0"/>
              <a:t>  </a:t>
            </a:r>
            <a:r>
              <a:rPr lang="vi-VN" sz="2000" u="sng" dirty="0"/>
              <a:t>sơ đồ code:</a:t>
            </a:r>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645585B2-EDD6-4442-5E59-B0B6B9555017}"/>
              </a:ext>
            </a:extLst>
          </p:cNvPr>
          <p:cNvSpPr>
            <a:spLocks noGrp="1"/>
          </p:cNvSpPr>
          <p:nvPr>
            <p:ph type="sldNum" sz="quarter" idx="12"/>
          </p:nvPr>
        </p:nvSpPr>
        <p:spPr/>
        <p:txBody>
          <a:bodyPr/>
          <a:lstStyle/>
          <a:p>
            <a:fld id="{9EA0BE3B-158A-4EDF-80DC-E394A0D1600F}" type="slidenum">
              <a:rPr lang="en-US" smtClean="0"/>
              <a:pPr/>
              <a:t>19</a:t>
            </a:fld>
            <a:endParaRPr lang="en-US"/>
          </a:p>
        </p:txBody>
      </p:sp>
      <p:pic>
        <p:nvPicPr>
          <p:cNvPr id="7" name="Picture 6">
            <a:extLst>
              <a:ext uri="{FF2B5EF4-FFF2-40B4-BE49-F238E27FC236}">
                <a16:creationId xmlns:a16="http://schemas.microsoft.com/office/drawing/2014/main" id="{F4C7653B-0C10-B394-A875-B315EB0835C7}"/>
              </a:ext>
            </a:extLst>
          </p:cNvPr>
          <p:cNvPicPr>
            <a:picLocks noChangeAspect="1"/>
          </p:cNvPicPr>
          <p:nvPr/>
        </p:nvPicPr>
        <p:blipFill>
          <a:blip r:embed="rId2"/>
          <a:stretch>
            <a:fillRect/>
          </a:stretch>
        </p:blipFill>
        <p:spPr>
          <a:xfrm>
            <a:off x="2321457" y="2122029"/>
            <a:ext cx="3115110" cy="3562847"/>
          </a:xfrm>
          <a:prstGeom prst="rect">
            <a:avLst/>
          </a:prstGeom>
        </p:spPr>
      </p:pic>
    </p:spTree>
    <p:extLst>
      <p:ext uri="{BB962C8B-B14F-4D97-AF65-F5344CB8AC3E}">
        <p14:creationId xmlns:p14="http://schemas.microsoft.com/office/powerpoint/2010/main" val="1407814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3B3F-6D5F-7622-F44E-4F3C4A233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74B84-CF04-7B71-AB85-96D191B14A58}"/>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6BF40D0D-719B-F99F-5C6C-4C50D3ACD20C}"/>
              </a:ext>
            </a:extLst>
          </p:cNvPr>
          <p:cNvSpPr>
            <a:spLocks noGrp="1"/>
          </p:cNvSpPr>
          <p:nvPr>
            <p:ph type="body" sz="quarter" idx="13"/>
          </p:nvPr>
        </p:nvSpPr>
        <p:spPr/>
        <p:txBody>
          <a:bodyPr/>
          <a:lstStyle/>
          <a:p>
            <a:pPr marL="0" indent="0">
              <a:buNone/>
            </a:pPr>
            <a:r>
              <a:rPr lang="vi-VN" sz="2000" dirty="0"/>
              <a:t>2.    Điều khiển LED bằng Analog</a:t>
            </a:r>
          </a:p>
          <a:p>
            <a:pPr marL="0" indent="0">
              <a:buNone/>
            </a:pPr>
            <a:r>
              <a:rPr lang="vi-VN" sz="2000" dirty="0"/>
              <a:t>  Bài tập : Viết chương trình thay đổi dộ sáng của đèn tăng dần đến max sau đó tắt hẳn</a:t>
            </a:r>
          </a:p>
          <a:p>
            <a:pPr marL="0" indent="0">
              <a:buNone/>
            </a:pPr>
            <a:r>
              <a:rPr lang="vi-VN" sz="2000" dirty="0"/>
              <a:t>  </a:t>
            </a:r>
            <a:r>
              <a:rPr lang="vi-VN" sz="2000" u="sng" dirty="0"/>
              <a:t>sơ đồ nguyên lí:</a:t>
            </a:r>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050625CD-FB49-5EC6-1EDA-2A9B8D4E27CD}"/>
              </a:ext>
            </a:extLst>
          </p:cNvPr>
          <p:cNvSpPr>
            <a:spLocks noGrp="1"/>
          </p:cNvSpPr>
          <p:nvPr>
            <p:ph type="sldNum" sz="quarter" idx="12"/>
          </p:nvPr>
        </p:nvSpPr>
        <p:spPr/>
        <p:txBody>
          <a:bodyPr/>
          <a:lstStyle/>
          <a:p>
            <a:fld id="{9EA0BE3B-158A-4EDF-80DC-E394A0D1600F}" type="slidenum">
              <a:rPr lang="en-US" smtClean="0"/>
              <a:pPr/>
              <a:t>20</a:t>
            </a:fld>
            <a:endParaRPr lang="en-US"/>
          </a:p>
        </p:txBody>
      </p:sp>
      <p:pic>
        <p:nvPicPr>
          <p:cNvPr id="5" name="Picture 4">
            <a:extLst>
              <a:ext uri="{FF2B5EF4-FFF2-40B4-BE49-F238E27FC236}">
                <a16:creationId xmlns:a16="http://schemas.microsoft.com/office/drawing/2014/main" id="{5ACBE5B8-6203-5328-0D74-F869A79D7DA7}"/>
              </a:ext>
            </a:extLst>
          </p:cNvPr>
          <p:cNvPicPr>
            <a:picLocks noChangeAspect="1"/>
          </p:cNvPicPr>
          <p:nvPr/>
        </p:nvPicPr>
        <p:blipFill>
          <a:blip r:embed="rId2"/>
          <a:stretch>
            <a:fillRect/>
          </a:stretch>
        </p:blipFill>
        <p:spPr>
          <a:xfrm>
            <a:off x="2345194" y="2415720"/>
            <a:ext cx="5701525" cy="3630184"/>
          </a:xfrm>
          <a:prstGeom prst="rect">
            <a:avLst/>
          </a:prstGeom>
        </p:spPr>
      </p:pic>
    </p:spTree>
    <p:extLst>
      <p:ext uri="{BB962C8B-B14F-4D97-AF65-F5344CB8AC3E}">
        <p14:creationId xmlns:p14="http://schemas.microsoft.com/office/powerpoint/2010/main" val="977837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FE35A-565A-A51D-31CC-FAB6F3232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F15F8-F887-F67E-1618-92F8081813D7}"/>
              </a:ext>
            </a:extLst>
          </p:cNvPr>
          <p:cNvSpPr>
            <a:spLocks noGrp="1"/>
          </p:cNvSpPr>
          <p:nvPr>
            <p:ph type="title"/>
          </p:nvPr>
        </p:nvSpPr>
        <p:spPr/>
        <p:txBody>
          <a:bodyPr/>
          <a:lstStyle/>
          <a:p>
            <a:r>
              <a:rPr lang="vi-VN" dirty="0"/>
              <a:t>II. Cách điều khiển LED</a:t>
            </a:r>
            <a:endParaRPr lang="en-US" dirty="0"/>
          </a:p>
        </p:txBody>
      </p:sp>
      <p:sp>
        <p:nvSpPr>
          <p:cNvPr id="3" name="Text Placeholder 2">
            <a:extLst>
              <a:ext uri="{FF2B5EF4-FFF2-40B4-BE49-F238E27FC236}">
                <a16:creationId xmlns:a16="http://schemas.microsoft.com/office/drawing/2014/main" id="{AD93F2C5-827E-47A4-5329-44A00620D61F}"/>
              </a:ext>
            </a:extLst>
          </p:cNvPr>
          <p:cNvSpPr>
            <a:spLocks noGrp="1"/>
          </p:cNvSpPr>
          <p:nvPr>
            <p:ph type="body" sz="quarter" idx="13"/>
          </p:nvPr>
        </p:nvSpPr>
        <p:spPr/>
        <p:txBody>
          <a:bodyPr/>
          <a:lstStyle/>
          <a:p>
            <a:pPr marL="457200" indent="-457200">
              <a:buAutoNum type="arabicPeriod" startAt="2"/>
            </a:pPr>
            <a:r>
              <a:rPr lang="vi-VN" sz="2000" dirty="0"/>
              <a:t>Điều khiển LED bằng Analog</a:t>
            </a:r>
          </a:p>
          <a:p>
            <a:pPr marL="0" indent="0">
              <a:buNone/>
            </a:pPr>
            <a:r>
              <a:rPr lang="vi-VN" sz="2000" dirty="0"/>
              <a:t>  Code chương trình:</a:t>
            </a:r>
          </a:p>
          <a:p>
            <a:pPr marL="0" indent="0">
              <a:buNone/>
            </a:pPr>
            <a:endParaRPr lang="vi-VN" sz="2000" dirty="0"/>
          </a:p>
          <a:p>
            <a:pPr marL="0" indent="0">
              <a:buNone/>
            </a:pPr>
            <a:endParaRPr lang="en-US" sz="2000" dirty="0"/>
          </a:p>
        </p:txBody>
      </p:sp>
      <p:sp>
        <p:nvSpPr>
          <p:cNvPr id="4" name="Slide Number Placeholder 3">
            <a:extLst>
              <a:ext uri="{FF2B5EF4-FFF2-40B4-BE49-F238E27FC236}">
                <a16:creationId xmlns:a16="http://schemas.microsoft.com/office/drawing/2014/main" id="{17716C69-71E9-DC00-94F4-1DFBA014F2CE}"/>
              </a:ext>
            </a:extLst>
          </p:cNvPr>
          <p:cNvSpPr>
            <a:spLocks noGrp="1"/>
          </p:cNvSpPr>
          <p:nvPr>
            <p:ph type="sldNum" sz="quarter" idx="12"/>
          </p:nvPr>
        </p:nvSpPr>
        <p:spPr/>
        <p:txBody>
          <a:bodyPr/>
          <a:lstStyle/>
          <a:p>
            <a:fld id="{9EA0BE3B-158A-4EDF-80DC-E394A0D1600F}" type="slidenum">
              <a:rPr lang="en-US" smtClean="0"/>
              <a:pPr/>
              <a:t>21</a:t>
            </a:fld>
            <a:endParaRPr lang="en-US"/>
          </a:p>
        </p:txBody>
      </p:sp>
      <p:pic>
        <p:nvPicPr>
          <p:cNvPr id="6" name="Picture 5">
            <a:extLst>
              <a:ext uri="{FF2B5EF4-FFF2-40B4-BE49-F238E27FC236}">
                <a16:creationId xmlns:a16="http://schemas.microsoft.com/office/drawing/2014/main" id="{FEDDDD93-8620-BBF4-F376-767C36F309EA}"/>
              </a:ext>
            </a:extLst>
          </p:cNvPr>
          <p:cNvPicPr>
            <a:picLocks noChangeAspect="1"/>
          </p:cNvPicPr>
          <p:nvPr/>
        </p:nvPicPr>
        <p:blipFill>
          <a:blip r:embed="rId2"/>
          <a:stretch>
            <a:fillRect/>
          </a:stretch>
        </p:blipFill>
        <p:spPr>
          <a:xfrm>
            <a:off x="2534861" y="1788871"/>
            <a:ext cx="5811061" cy="4315427"/>
          </a:xfrm>
          <a:prstGeom prst="rect">
            <a:avLst/>
          </a:prstGeom>
        </p:spPr>
      </p:pic>
    </p:spTree>
    <p:extLst>
      <p:ext uri="{BB962C8B-B14F-4D97-AF65-F5344CB8AC3E}">
        <p14:creationId xmlns:p14="http://schemas.microsoft.com/office/powerpoint/2010/main" val="3900302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22</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926</Words>
  <Application>Microsoft Office PowerPoint</Application>
  <PresentationFormat>Widescreen</PresentationFormat>
  <Paragraphs>130</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Lato</vt:lpstr>
      <vt:lpstr>Wingdings</vt:lpstr>
      <vt:lpstr>Office Theme</vt:lpstr>
      <vt:lpstr>PowerPoint Presentation</vt:lpstr>
      <vt:lpstr>PowerPoint Presentation</vt:lpstr>
      <vt:lpstr>PowerPoint Presentation</vt:lpstr>
      <vt:lpstr>I. Giới thiệu chung về Arduino</vt:lpstr>
      <vt:lpstr>I. Giới thiệu chung về Arduino</vt:lpstr>
      <vt:lpstr>I. Giới thiệu chung về Arduino</vt:lpstr>
      <vt:lpstr>I. Giới thiệu chung về Arduino</vt:lpstr>
      <vt:lpstr>I. Giới thiệu chung về Arduino</vt:lpstr>
      <vt:lpstr>I. Giới thiệu chung về Arduino</vt:lpstr>
      <vt:lpstr>II. Cách điều khiển LED</vt:lpstr>
      <vt:lpstr>II. Cách điều khiển LED</vt:lpstr>
      <vt:lpstr>II. Cách điều khiển LED</vt:lpstr>
      <vt:lpstr>II. Cách điều khiển LED</vt:lpstr>
      <vt:lpstr>II. Cách điều khiển LED</vt:lpstr>
      <vt:lpstr>II. Cách điều khiển LED</vt:lpstr>
      <vt:lpstr>II. Cách điều khiển LED</vt:lpstr>
      <vt:lpstr>II. Cách điều khiển LED</vt:lpstr>
      <vt:lpstr>II. Cách điều khiển LED</vt:lpstr>
      <vt:lpstr>II. Cách điều khiển LED</vt:lpstr>
      <vt:lpstr>II. Cách điều khiển LED</vt:lpstr>
      <vt:lpstr>II. Cách điều khiển LED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Cao Kim Nghia 202420695</cp:lastModifiedBy>
  <cp:revision>14</cp:revision>
  <dcterms:created xsi:type="dcterms:W3CDTF">2021-05-28T04:32:29Z</dcterms:created>
  <dcterms:modified xsi:type="dcterms:W3CDTF">2025-08-26T15:06:45Z</dcterms:modified>
</cp:coreProperties>
</file>