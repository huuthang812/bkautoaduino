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59" r:id="rId2"/>
    <p:sldId id="257" r:id="rId3"/>
    <p:sldId id="260" r:id="rId4"/>
    <p:sldId id="269" r:id="rId5"/>
    <p:sldId id="258" r:id="rId6"/>
    <p:sldId id="270" r:id="rId7"/>
    <p:sldId id="271" r:id="rId8"/>
    <p:sldId id="272" r:id="rId9"/>
    <p:sldId id="273" r:id="rId10"/>
    <p:sldId id="274" r:id="rId11"/>
    <p:sldId id="275"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8/29/2025</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8/29/2025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006"/>
            <a:ext cx="27432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58E92B09-5AF4-4E86-A8BE-E866F0E2C017}" type="datetime1">
              <a:rPr lang="en-US" smtClean="0"/>
              <a:t>8/29/2025</a:t>
            </a:fld>
            <a:endParaRPr lang="en-US"/>
          </a:p>
        </p:txBody>
      </p:sp>
      <p:sp>
        <p:nvSpPr>
          <p:cNvPr id="10"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1"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407957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8/29/2025</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7" name="Title 8">
            <a:extLst>
              <a:ext uri="{FF2B5EF4-FFF2-40B4-BE49-F238E27FC236}">
                <a16:creationId xmlns:a16="http://schemas.microsoft.com/office/drawing/2014/main" id="{DEAFB3E9-4F5E-435C-B51A-CC5766A852D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1329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8/29/2025</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3887669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8/29/2025</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95812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8A78F82-82C6-4F07-B7D8-4A1219A1BB4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9A9EFEF-A194-4819-82D7-1112425D0E86}" type="datetime1">
              <a:rPr lang="en-US" smtClean="0"/>
              <a:pPr/>
              <a:t>8/29/2025</a:t>
            </a:fld>
            <a:endParaRPr lang="en-US"/>
          </a:p>
        </p:txBody>
      </p:sp>
      <p:sp>
        <p:nvSpPr>
          <p:cNvPr id="8" name="Footer Placeholder 4">
            <a:extLst>
              <a:ext uri="{FF2B5EF4-FFF2-40B4-BE49-F238E27FC236}">
                <a16:creationId xmlns:a16="http://schemas.microsoft.com/office/drawing/2014/main" id="{12041C72-5CA2-4523-9F1E-50662A3276CE}"/>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3AD6B24F-6759-4931-A1C4-77BA8AF7E085}"/>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8">
            <a:extLst>
              <a:ext uri="{FF2B5EF4-FFF2-40B4-BE49-F238E27FC236}">
                <a16:creationId xmlns:a16="http://schemas.microsoft.com/office/drawing/2014/main" id="{1CD850F7-B0EC-49AD-960D-051EAF5F36DD}"/>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a:t>
            </a:r>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hasCustomPrompt="1"/>
          </p:nvPr>
        </p:nvSpPr>
        <p:spPr>
          <a:xfrm>
            <a:off x="338736" y="1406525"/>
            <a:ext cx="5757264" cy="467042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hasCustomPrompt="1"/>
          </p:nvPr>
        </p:nvSpPr>
        <p:spPr>
          <a:xfrm>
            <a:off x="6210300" y="1392239"/>
            <a:ext cx="5592763" cy="46847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Table</a:t>
            </a:r>
          </a:p>
        </p:txBody>
      </p:sp>
    </p:spTree>
    <p:extLst>
      <p:ext uri="{BB962C8B-B14F-4D97-AF65-F5344CB8AC3E}">
        <p14:creationId xmlns:p14="http://schemas.microsoft.com/office/powerpoint/2010/main" val="3242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4F1F29B1-F2F8-4527-A0B9-5A566F0DB568}"/>
              </a:ext>
            </a:extLst>
          </p:cNvPr>
          <p:cNvSpPr>
            <a:spLocks noGrp="1"/>
          </p:cNvSpPr>
          <p:nvPr>
            <p:ph type="dt" sz="half" idx="10"/>
          </p:nvPr>
        </p:nvSpPr>
        <p:spPr>
          <a:xfrm>
            <a:off x="838200" y="6486006"/>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pPr/>
              <a:t>8/29/2025</a:t>
            </a:fld>
            <a:endParaRPr lang="en-US"/>
          </a:p>
        </p:txBody>
      </p:sp>
      <p:sp>
        <p:nvSpPr>
          <p:cNvPr id="7" name="Footer Placeholder 4">
            <a:extLst>
              <a:ext uri="{FF2B5EF4-FFF2-40B4-BE49-F238E27FC236}">
                <a16:creationId xmlns:a16="http://schemas.microsoft.com/office/drawing/2014/main" id="{B1F89192-9608-4DA0-9D58-CE5D74F0161B}"/>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8" name="Slide Number Placeholder 5">
            <a:extLst>
              <a:ext uri="{FF2B5EF4-FFF2-40B4-BE49-F238E27FC236}">
                <a16:creationId xmlns:a16="http://schemas.microsoft.com/office/drawing/2014/main" id="{41300396-45C9-472A-AA37-70408F1C2FAF}"/>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558372" y="1248325"/>
            <a:ext cx="739140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hasCustomPrompt="1"/>
          </p:nvPr>
        </p:nvSpPr>
        <p:spPr>
          <a:xfrm>
            <a:off x="4558372" y="404265"/>
            <a:ext cx="7391400" cy="436098"/>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a:t>
            </a:r>
          </a:p>
        </p:txBody>
      </p:sp>
    </p:spTree>
    <p:extLst>
      <p:ext uri="{BB962C8B-B14F-4D97-AF65-F5344CB8AC3E}">
        <p14:creationId xmlns:p14="http://schemas.microsoft.com/office/powerpoint/2010/main" val="4113439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8/29/2025</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79133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8/29/2025</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96058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8/29/2025</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750032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8/29/2025</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1226200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pPr/>
              <a:t>8/29/2025</a:t>
            </a:fld>
            <a:endParaRPr lang="en-US"/>
          </a:p>
        </p:txBody>
      </p:sp>
      <p:sp>
        <p:nvSpPr>
          <p:cNvPr id="9"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492875"/>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014881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033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4C167836-5AFF-4757-AB55-39FD3BBF9D47}"/>
              </a:ext>
            </a:extLst>
          </p:cNvPr>
          <p:cNvSpPr>
            <a:spLocks noGrp="1"/>
          </p:cNvSpPr>
          <p:nvPr>
            <p:ph type="title" hasCustomPrompt="1"/>
          </p:nvPr>
        </p:nvSpPr>
        <p:spPr>
          <a:xfrm>
            <a:off x="3788898" y="2461846"/>
            <a:ext cx="4614203" cy="1934307"/>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2981520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54338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4" r:id="rId6"/>
    <p:sldLayoutId id="2147483660" r:id="rId7"/>
    <p:sldLayoutId id="2147483659" r:id="rId8"/>
    <p:sldLayoutId id="2147483658" r:id="rId9"/>
    <p:sldLayoutId id="2147483661" r:id="rId10"/>
    <p:sldLayoutId id="2147483656" r:id="rId11"/>
    <p:sldLayoutId id="2147483657" r:id="rId12"/>
    <p:sldLayoutId id="2147483649"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355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737FC17F-78B9-4DA3-B1E3-B6651CB1745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86634" y="331380"/>
            <a:ext cx="3174367" cy="952975"/>
          </a:xfrm>
          <a:prstGeom prst="rect">
            <a:avLst/>
          </a:prstGeom>
        </p:spPr>
      </p:pic>
      <p:sp>
        <p:nvSpPr>
          <p:cNvPr id="3" name="Title 6">
            <a:extLst>
              <a:ext uri="{FF2B5EF4-FFF2-40B4-BE49-F238E27FC236}">
                <a16:creationId xmlns:a16="http://schemas.microsoft.com/office/drawing/2014/main" id="{5702E00C-3125-4CD1-A5F8-64723BF48E3E}"/>
              </a:ext>
            </a:extLst>
          </p:cNvPr>
          <p:cNvSpPr txBox="1">
            <a:spLocks/>
          </p:cNvSpPr>
          <p:nvPr/>
        </p:nvSpPr>
        <p:spPr>
          <a:xfrm>
            <a:off x="386634" y="2816572"/>
            <a:ext cx="8244182"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dirty="0"/>
              <a:t>ARDUINO-ARDUINO IDE</a:t>
            </a:r>
          </a:p>
        </p:txBody>
      </p:sp>
      <p:sp>
        <p:nvSpPr>
          <p:cNvPr id="9" name="Slide Number Placeholder 8">
            <a:extLst>
              <a:ext uri="{FF2B5EF4-FFF2-40B4-BE49-F238E27FC236}">
                <a16:creationId xmlns:a16="http://schemas.microsoft.com/office/drawing/2014/main" id="{99BF4829-01AB-4F75-A03B-DF4FC4C312C6}"/>
              </a:ext>
            </a:extLst>
          </p:cNvPr>
          <p:cNvSpPr>
            <a:spLocks noGrp="1"/>
          </p:cNvSpPr>
          <p:nvPr>
            <p:ph type="sldNum" sz="quarter" idx="12"/>
          </p:nvPr>
        </p:nvSpPr>
        <p:spPr/>
        <p:txBody>
          <a:bodyPr/>
          <a:lstStyle/>
          <a:p>
            <a:fld id="{9EA0BE3B-158A-4EDF-80DC-E394A0D1600F}" type="slidenum">
              <a:rPr lang="en-US" smtClean="0"/>
              <a:pPr/>
              <a:t>2</a:t>
            </a:fld>
            <a:endParaRPr lang="en-US"/>
          </a:p>
        </p:txBody>
      </p:sp>
    </p:spTree>
    <p:extLst>
      <p:ext uri="{BB962C8B-B14F-4D97-AF65-F5344CB8AC3E}">
        <p14:creationId xmlns:p14="http://schemas.microsoft.com/office/powerpoint/2010/main" val="74317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B3AB5-95DF-4273-871C-843529DB7255}"/>
              </a:ext>
            </a:extLst>
          </p:cNvPr>
          <p:cNvSpPr>
            <a:spLocks noGrp="1"/>
          </p:cNvSpPr>
          <p:nvPr>
            <p:ph type="title"/>
          </p:nvPr>
        </p:nvSpPr>
        <p:spPr/>
        <p:txBody>
          <a:bodyPr/>
          <a:lstStyle/>
          <a:p>
            <a:r>
              <a:rPr lang="en-US" dirty="0"/>
              <a:t>I.ARDUINO</a:t>
            </a:r>
          </a:p>
        </p:txBody>
      </p:sp>
      <p:sp>
        <p:nvSpPr>
          <p:cNvPr id="4" name="Slide Number Placeholder 3">
            <a:extLst>
              <a:ext uri="{FF2B5EF4-FFF2-40B4-BE49-F238E27FC236}">
                <a16:creationId xmlns:a16="http://schemas.microsoft.com/office/drawing/2014/main" id="{6CAB879D-D188-4DA3-8675-F8BCF379A12E}"/>
              </a:ext>
            </a:extLst>
          </p:cNvPr>
          <p:cNvSpPr>
            <a:spLocks noGrp="1"/>
          </p:cNvSpPr>
          <p:nvPr>
            <p:ph type="sldNum" sz="quarter" idx="12"/>
          </p:nvPr>
        </p:nvSpPr>
        <p:spPr/>
        <p:txBody>
          <a:bodyPr/>
          <a:lstStyle/>
          <a:p>
            <a:fld id="{9EA0BE3B-158A-4EDF-80DC-E394A0D1600F}" type="slidenum">
              <a:rPr lang="en-US" smtClean="0"/>
              <a:pPr/>
              <a:t>3</a:t>
            </a:fld>
            <a:endParaRPr lang="en-US" dirty="0"/>
          </a:p>
        </p:txBody>
      </p:sp>
      <p:pic>
        <p:nvPicPr>
          <p:cNvPr id="5" name="Picture 4">
            <a:extLst>
              <a:ext uri="{FF2B5EF4-FFF2-40B4-BE49-F238E27FC236}">
                <a16:creationId xmlns:a16="http://schemas.microsoft.com/office/drawing/2014/main" id="{2688CAA1-7FD9-C027-5251-0F4361832055}"/>
              </a:ext>
            </a:extLst>
          </p:cNvPr>
          <p:cNvPicPr>
            <a:picLocks noChangeAspect="1"/>
          </p:cNvPicPr>
          <p:nvPr/>
        </p:nvPicPr>
        <p:blipFill>
          <a:blip r:embed="rId2"/>
          <a:stretch>
            <a:fillRect/>
          </a:stretch>
        </p:blipFill>
        <p:spPr>
          <a:xfrm>
            <a:off x="2046740" y="869988"/>
            <a:ext cx="8098520" cy="5118024"/>
          </a:xfrm>
          <a:prstGeom prst="rect">
            <a:avLst/>
          </a:prstGeom>
        </p:spPr>
      </p:pic>
    </p:spTree>
    <p:extLst>
      <p:ext uri="{BB962C8B-B14F-4D97-AF65-F5344CB8AC3E}">
        <p14:creationId xmlns:p14="http://schemas.microsoft.com/office/powerpoint/2010/main" val="221433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1C65C-74FD-0978-6D21-9318C62218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227B3-76CC-3432-42DA-25A32615FDCB}"/>
              </a:ext>
            </a:extLst>
          </p:cNvPr>
          <p:cNvSpPr>
            <a:spLocks noGrp="1"/>
          </p:cNvSpPr>
          <p:nvPr>
            <p:ph type="title"/>
          </p:nvPr>
        </p:nvSpPr>
        <p:spPr/>
        <p:txBody>
          <a:bodyPr/>
          <a:lstStyle/>
          <a:p>
            <a:r>
              <a:rPr lang="en-US" dirty="0"/>
              <a:t>I.ARDUINO</a:t>
            </a:r>
          </a:p>
        </p:txBody>
      </p:sp>
      <p:sp>
        <p:nvSpPr>
          <p:cNvPr id="4" name="Slide Number Placeholder 3">
            <a:extLst>
              <a:ext uri="{FF2B5EF4-FFF2-40B4-BE49-F238E27FC236}">
                <a16:creationId xmlns:a16="http://schemas.microsoft.com/office/drawing/2014/main" id="{684A8F99-9DAD-E33E-7654-6CC7DBBFFFB6}"/>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7" name="TextBox 6">
            <a:extLst>
              <a:ext uri="{FF2B5EF4-FFF2-40B4-BE49-F238E27FC236}">
                <a16:creationId xmlns:a16="http://schemas.microsoft.com/office/drawing/2014/main" id="{8C94C94D-EC76-C739-DD0B-3BE5744F0068}"/>
              </a:ext>
            </a:extLst>
          </p:cNvPr>
          <p:cNvSpPr txBox="1"/>
          <p:nvPr/>
        </p:nvSpPr>
        <p:spPr>
          <a:xfrm>
            <a:off x="534679" y="997565"/>
            <a:ext cx="10260840" cy="4862870"/>
          </a:xfrm>
          <a:prstGeom prst="rect">
            <a:avLst/>
          </a:prstGeom>
          <a:noFill/>
        </p:spPr>
        <p:txBody>
          <a:bodyPr wrap="square">
            <a:spAutoFit/>
          </a:bodyPr>
          <a:lstStyle/>
          <a:p>
            <a:r>
              <a:rPr lang="en-US" sz="2000" dirty="0" err="1">
                <a:solidFill>
                  <a:srgbClr val="000000"/>
                </a:solidFill>
                <a:latin typeface="Arial" panose="020B0604020202020204" pitchFamily="34" charset="0"/>
              </a:rPr>
              <a:t>Tổng</a:t>
            </a:r>
            <a:r>
              <a:rPr lang="en-US" sz="2000" dirty="0">
                <a:solidFill>
                  <a:srgbClr val="000000"/>
                </a:solidFill>
                <a:latin typeface="Arial" panose="020B0604020202020204" pitchFamily="34" charset="0"/>
              </a:rPr>
              <a:t> Quan</a:t>
            </a:r>
            <a:r>
              <a:rPr lang="en-US" sz="2000" b="0" i="0" dirty="0">
                <a:solidFill>
                  <a:srgbClr val="000000"/>
                </a:solidFill>
                <a:effectLst/>
                <a:latin typeface="Arial" panose="020B0604020202020204" pitchFamily="34" charset="0"/>
              </a:rPr>
              <a:t> :</a:t>
            </a:r>
          </a:p>
          <a:p>
            <a:endParaRPr lang="en-US" sz="2000" b="0" i="0" dirty="0">
              <a:solidFill>
                <a:srgbClr val="000000"/>
              </a:solidFill>
              <a:effectLst/>
              <a:latin typeface="Arial" panose="020B0604020202020204" pitchFamily="34" charset="0"/>
            </a:endParaRPr>
          </a:p>
          <a:p>
            <a:pPr marL="285750" indent="-285750">
              <a:buFont typeface="Arial" panose="020B0604020202020204" pitchFamily="34" charset="0"/>
              <a:buChar char="•"/>
            </a:pPr>
            <a:r>
              <a:rPr lang="vi-VN" b="0" i="0" dirty="0">
                <a:solidFill>
                  <a:srgbClr val="000000"/>
                </a:solidFill>
                <a:effectLst/>
                <a:latin typeface="Arial" panose="020B0604020202020204" pitchFamily="34" charset="0"/>
              </a:rPr>
              <a:t>Arduino được sử dụng để cảm nhận và điều khiển nhiều đối tượng khác nhau. Nó có thể thực hiện nhiều nhiệm vụ lấy tín hiệu từ cảm biến đến điều khiển đèn, động cơ, và nhiều đối tượng khác.</a:t>
            </a:r>
            <a:endParaRPr lang="en-US" b="0" i="0" dirty="0">
              <a:solidFill>
                <a:srgbClr val="000000"/>
              </a:solidFill>
              <a:effectLst/>
              <a:latin typeface="Arial" panose="020B0604020202020204" pitchFamily="34" charset="0"/>
            </a:endParaRPr>
          </a:p>
          <a:p>
            <a:pPr marL="285750" indent="-285750">
              <a:buFont typeface="Arial" panose="020B0604020202020204" pitchFamily="34" charset="0"/>
              <a:buChar char="•"/>
            </a:pPr>
            <a:endParaRPr lang="en-US" b="0" i="0" dirty="0">
              <a:solidFill>
                <a:srgbClr val="000000"/>
              </a:solidFill>
              <a:effectLst/>
              <a:latin typeface="Arial" panose="020B0604020202020204" pitchFamily="34" charset="0"/>
            </a:endParaRPr>
          </a:p>
          <a:p>
            <a:pPr marL="285750" indent="-285750">
              <a:buFont typeface="Arial" panose="020B0604020202020204" pitchFamily="34" charset="0"/>
              <a:buChar char="•"/>
            </a:pPr>
            <a:r>
              <a:rPr lang="vi-VN" dirty="0"/>
              <a:t>Arduino có thể được sử dụng như bộ não đằng sau hầu hết các dự án điện tử.</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vi-VN" dirty="0"/>
              <a:t>Arduino điều khiển thiết bị ánh sáng cảm biến tốt. Là một trong những bộ phần quan trọng trong cây đèn giao thông, các hiệu ứng đèn nháy được cài đặt làm nổi bật các biển quảng cáo.</a:t>
            </a:r>
            <a:endParaRPr lang="en-US" dirty="0"/>
          </a:p>
          <a:p>
            <a:pPr marL="285750" indent="-285750">
              <a:buFont typeface="Arial" panose="020B0604020202020204" pitchFamily="34" charset="0"/>
              <a:buChar char="•"/>
            </a:pPr>
            <a:endParaRPr lang="vi-VN" dirty="0"/>
          </a:p>
          <a:p>
            <a:pPr marL="285750" indent="-285750">
              <a:buFont typeface="Arial" panose="020B0604020202020204" pitchFamily="34" charset="0"/>
              <a:buChar char="•"/>
            </a:pPr>
            <a:r>
              <a:rPr lang="vi-VN" dirty="0"/>
              <a:t>Arduino cũng được ứng dụng trong máy in 3D và nhiều ứng dụng khác tùy thuộc vào khả năng sáng tạo của người sử dụng.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vi-VN" dirty="0"/>
              <a:t>Arduino có nhiều bo mạch khác nhau, mỗi bo mạch có khả năng khác nhau. Thêm vào đó, vì là phần cứng nguồn mở nên nhiều người có thể sửa đổi và tạo ra nhiều các bo mạch Arduino khác với nhiều chức năng hơn.</a:t>
            </a:r>
            <a:endParaRPr lang="en-US" dirty="0"/>
          </a:p>
        </p:txBody>
      </p:sp>
    </p:spTree>
    <p:extLst>
      <p:ext uri="{BB962C8B-B14F-4D97-AF65-F5344CB8AC3E}">
        <p14:creationId xmlns:p14="http://schemas.microsoft.com/office/powerpoint/2010/main" val="1954246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5D019-96A4-4D1E-AFB5-09D65C86E12D}"/>
              </a:ext>
            </a:extLst>
          </p:cNvPr>
          <p:cNvSpPr>
            <a:spLocks noGrp="1"/>
          </p:cNvSpPr>
          <p:nvPr>
            <p:ph type="title"/>
          </p:nvPr>
        </p:nvSpPr>
        <p:spPr/>
        <p:txBody>
          <a:bodyPr/>
          <a:lstStyle/>
          <a:p>
            <a:r>
              <a:rPr lang="en-US" dirty="0"/>
              <a:t>II. ARDUINO IDE</a:t>
            </a:r>
          </a:p>
        </p:txBody>
      </p:sp>
      <p:sp>
        <p:nvSpPr>
          <p:cNvPr id="6" name="Slide Number Placeholder 5">
            <a:extLst>
              <a:ext uri="{FF2B5EF4-FFF2-40B4-BE49-F238E27FC236}">
                <a16:creationId xmlns:a16="http://schemas.microsoft.com/office/drawing/2014/main" id="{11E4677A-4F02-4478-B9B8-685D0B6264D3}"/>
              </a:ext>
            </a:extLst>
          </p:cNvPr>
          <p:cNvSpPr>
            <a:spLocks noGrp="1"/>
          </p:cNvSpPr>
          <p:nvPr>
            <p:ph type="sldNum" sz="quarter" idx="12"/>
          </p:nvPr>
        </p:nvSpPr>
        <p:spPr/>
        <p:txBody>
          <a:bodyPr/>
          <a:lstStyle/>
          <a:p>
            <a:fld id="{9EA0BE3B-158A-4EDF-80DC-E394A0D1600F}" type="slidenum">
              <a:rPr lang="en-US" smtClean="0"/>
              <a:pPr/>
              <a:t>5</a:t>
            </a:fld>
            <a:endParaRPr lang="en-US"/>
          </a:p>
        </p:txBody>
      </p:sp>
      <p:pic>
        <p:nvPicPr>
          <p:cNvPr id="1026" name="Picture 2" descr="Arduino Ide - Programming for beginners - Part 1">
            <a:extLst>
              <a:ext uri="{FF2B5EF4-FFF2-40B4-BE49-F238E27FC236}">
                <a16:creationId xmlns:a16="http://schemas.microsoft.com/office/drawing/2014/main" id="{0F66FBB0-CDA2-81BE-0827-96F626C2CC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3581" y="1449015"/>
            <a:ext cx="5728029" cy="395996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D36928F-68BD-CEDE-AD33-179BA80B1638}"/>
              </a:ext>
            </a:extLst>
          </p:cNvPr>
          <p:cNvSpPr txBox="1"/>
          <p:nvPr/>
        </p:nvSpPr>
        <p:spPr>
          <a:xfrm>
            <a:off x="540390" y="2148811"/>
            <a:ext cx="4676969" cy="2031325"/>
          </a:xfrm>
          <a:prstGeom prst="rect">
            <a:avLst/>
          </a:prstGeom>
          <a:noFill/>
        </p:spPr>
        <p:txBody>
          <a:bodyPr wrap="square">
            <a:spAutoFit/>
          </a:bodyPr>
          <a:lstStyle/>
          <a:p>
            <a:pPr marL="285750" indent="-285750">
              <a:buFont typeface="Arial" panose="020B0604020202020204" pitchFamily="34" charset="0"/>
              <a:buChar char="•"/>
            </a:pPr>
            <a:r>
              <a:rPr lang="vi-VN" dirty="0"/>
              <a:t>Arduino IDE là một phần mềm mã nguồn mở chủ yếu được sử dụng để viết và biên dịch mã vào module Arduino.</a:t>
            </a:r>
            <a:endParaRPr lang="en-US" dirty="0"/>
          </a:p>
          <a:p>
            <a:pPr marL="285750" indent="-285750">
              <a:buFont typeface="Arial" panose="020B0604020202020204" pitchFamily="34" charset="0"/>
              <a:buChar char="•"/>
            </a:pPr>
            <a:endParaRPr lang="vi-VN" dirty="0"/>
          </a:p>
          <a:p>
            <a:pPr marL="285750" indent="-285750">
              <a:buFont typeface="Arial" panose="020B0604020202020204" pitchFamily="34" charset="0"/>
              <a:buChar char="•"/>
            </a:pPr>
            <a:r>
              <a:rPr lang="vi-VN" dirty="0"/>
              <a:t>Đây là một phần mềm Arduino chính thức, giúp cho việc biên dịch mã trở nên dễ dàng</a:t>
            </a:r>
          </a:p>
        </p:txBody>
      </p:sp>
    </p:spTree>
    <p:extLst>
      <p:ext uri="{BB962C8B-B14F-4D97-AF65-F5344CB8AC3E}">
        <p14:creationId xmlns:p14="http://schemas.microsoft.com/office/powerpoint/2010/main" val="3505952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B6165-A757-05B9-1C71-345F1184BA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6B4DA6-1290-E94C-1EF4-317800640ED7}"/>
              </a:ext>
            </a:extLst>
          </p:cNvPr>
          <p:cNvSpPr>
            <a:spLocks noGrp="1"/>
          </p:cNvSpPr>
          <p:nvPr>
            <p:ph type="title"/>
          </p:nvPr>
        </p:nvSpPr>
        <p:spPr/>
        <p:txBody>
          <a:bodyPr/>
          <a:lstStyle/>
          <a:p>
            <a:r>
              <a:rPr lang="en-US" dirty="0"/>
              <a:t>II. ARDUINO IDE</a:t>
            </a:r>
          </a:p>
        </p:txBody>
      </p:sp>
      <p:sp>
        <p:nvSpPr>
          <p:cNvPr id="6" name="Slide Number Placeholder 5">
            <a:extLst>
              <a:ext uri="{FF2B5EF4-FFF2-40B4-BE49-F238E27FC236}">
                <a16:creationId xmlns:a16="http://schemas.microsoft.com/office/drawing/2014/main" id="{62228746-6007-E081-67CA-AE6341558405}"/>
              </a:ext>
            </a:extLst>
          </p:cNvPr>
          <p:cNvSpPr>
            <a:spLocks noGrp="1"/>
          </p:cNvSpPr>
          <p:nvPr>
            <p:ph type="sldNum" sz="quarter" idx="12"/>
          </p:nvPr>
        </p:nvSpPr>
        <p:spPr/>
        <p:txBody>
          <a:bodyPr/>
          <a:lstStyle/>
          <a:p>
            <a:fld id="{9EA0BE3B-158A-4EDF-80DC-E394A0D1600F}" type="slidenum">
              <a:rPr lang="en-US" smtClean="0"/>
              <a:pPr/>
              <a:t>6</a:t>
            </a:fld>
            <a:endParaRPr lang="en-US"/>
          </a:p>
        </p:txBody>
      </p:sp>
      <p:pic>
        <p:nvPicPr>
          <p:cNvPr id="3" name="Picture 2">
            <a:extLst>
              <a:ext uri="{FF2B5EF4-FFF2-40B4-BE49-F238E27FC236}">
                <a16:creationId xmlns:a16="http://schemas.microsoft.com/office/drawing/2014/main" id="{5FC61E68-FB13-91CC-ECC8-74F675E5C6C7}"/>
              </a:ext>
            </a:extLst>
          </p:cNvPr>
          <p:cNvPicPr>
            <a:picLocks noChangeAspect="1"/>
          </p:cNvPicPr>
          <p:nvPr/>
        </p:nvPicPr>
        <p:blipFill>
          <a:blip r:embed="rId2"/>
          <a:stretch>
            <a:fillRect/>
          </a:stretch>
        </p:blipFill>
        <p:spPr>
          <a:xfrm>
            <a:off x="2830356" y="942392"/>
            <a:ext cx="8285584" cy="5355769"/>
          </a:xfrm>
          <a:prstGeom prst="rect">
            <a:avLst/>
          </a:prstGeom>
        </p:spPr>
      </p:pic>
      <p:sp>
        <p:nvSpPr>
          <p:cNvPr id="7" name="TextBox 6">
            <a:extLst>
              <a:ext uri="{FF2B5EF4-FFF2-40B4-BE49-F238E27FC236}">
                <a16:creationId xmlns:a16="http://schemas.microsoft.com/office/drawing/2014/main" id="{564F274E-8B1C-8433-35FF-A6BECEB46AAC}"/>
              </a:ext>
            </a:extLst>
          </p:cNvPr>
          <p:cNvSpPr txBox="1"/>
          <p:nvPr/>
        </p:nvSpPr>
        <p:spPr>
          <a:xfrm>
            <a:off x="338736" y="1051640"/>
            <a:ext cx="6097554" cy="461665"/>
          </a:xfrm>
          <a:prstGeom prst="rect">
            <a:avLst/>
          </a:prstGeom>
          <a:noFill/>
        </p:spPr>
        <p:txBody>
          <a:bodyPr wrap="square">
            <a:spAutoFit/>
          </a:bodyPr>
          <a:lstStyle/>
          <a:p>
            <a:r>
              <a:rPr lang="en-US" sz="2400" dirty="0"/>
              <a:t>Giao </a:t>
            </a:r>
            <a:r>
              <a:rPr lang="en-US" sz="2400" dirty="0" err="1"/>
              <a:t>diện</a:t>
            </a:r>
            <a:r>
              <a:rPr lang="en-US" sz="2400" dirty="0"/>
              <a:t>:</a:t>
            </a:r>
          </a:p>
        </p:txBody>
      </p:sp>
    </p:spTree>
    <p:extLst>
      <p:ext uri="{BB962C8B-B14F-4D97-AF65-F5344CB8AC3E}">
        <p14:creationId xmlns:p14="http://schemas.microsoft.com/office/powerpoint/2010/main" val="2873353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83FA0-CB06-A152-C70B-0F0223E73C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D06C77-0662-1DE7-AE7E-9504E5019F58}"/>
              </a:ext>
            </a:extLst>
          </p:cNvPr>
          <p:cNvSpPr>
            <a:spLocks noGrp="1"/>
          </p:cNvSpPr>
          <p:nvPr>
            <p:ph type="title"/>
          </p:nvPr>
        </p:nvSpPr>
        <p:spPr/>
        <p:txBody>
          <a:bodyPr/>
          <a:lstStyle/>
          <a:p>
            <a:r>
              <a:rPr lang="en-US" dirty="0"/>
              <a:t>II. ARDUINO IDE</a:t>
            </a:r>
          </a:p>
        </p:txBody>
      </p:sp>
      <p:sp>
        <p:nvSpPr>
          <p:cNvPr id="6" name="Slide Number Placeholder 5">
            <a:extLst>
              <a:ext uri="{FF2B5EF4-FFF2-40B4-BE49-F238E27FC236}">
                <a16:creationId xmlns:a16="http://schemas.microsoft.com/office/drawing/2014/main" id="{1EBEFA2E-4C75-A1A0-8FEA-5100ED54D18D}"/>
              </a:ext>
            </a:extLst>
          </p:cNvPr>
          <p:cNvSpPr>
            <a:spLocks noGrp="1"/>
          </p:cNvSpPr>
          <p:nvPr>
            <p:ph type="sldNum" sz="quarter" idx="12"/>
          </p:nvPr>
        </p:nvSpPr>
        <p:spPr/>
        <p:txBody>
          <a:bodyPr/>
          <a:lstStyle/>
          <a:p>
            <a:fld id="{9EA0BE3B-158A-4EDF-80DC-E394A0D1600F}" type="slidenum">
              <a:rPr lang="en-US" smtClean="0"/>
              <a:pPr/>
              <a:t>7</a:t>
            </a:fld>
            <a:endParaRPr lang="en-US"/>
          </a:p>
        </p:txBody>
      </p:sp>
      <p:sp>
        <p:nvSpPr>
          <p:cNvPr id="5" name="TextBox 4">
            <a:extLst>
              <a:ext uri="{FF2B5EF4-FFF2-40B4-BE49-F238E27FC236}">
                <a16:creationId xmlns:a16="http://schemas.microsoft.com/office/drawing/2014/main" id="{7EA48FDB-97B8-BAA9-739D-C30D4FDFCD71}"/>
              </a:ext>
            </a:extLst>
          </p:cNvPr>
          <p:cNvSpPr txBox="1"/>
          <p:nvPr/>
        </p:nvSpPr>
        <p:spPr>
          <a:xfrm>
            <a:off x="118966" y="800733"/>
            <a:ext cx="6097554" cy="923330"/>
          </a:xfrm>
          <a:prstGeom prst="rect">
            <a:avLst/>
          </a:prstGeom>
          <a:noFill/>
        </p:spPr>
        <p:txBody>
          <a:bodyPr wrap="square">
            <a:spAutoFit/>
          </a:bodyPr>
          <a:lstStyle/>
          <a:p>
            <a:pPr algn="just">
              <a:buNone/>
            </a:pPr>
            <a:r>
              <a:rPr lang="vi-VN" b="1" i="0" dirty="0">
                <a:solidFill>
                  <a:srgbClr val="090A0A"/>
                </a:solidFill>
                <a:effectLst/>
                <a:latin typeface="Arial" panose="020B0604020202020204" pitchFamily="34" charset="0"/>
              </a:rPr>
              <a:t>Cấu trúc một chương trình trong phần mềm IDE</a:t>
            </a:r>
            <a:r>
              <a:rPr lang="en-US" b="1" i="0" dirty="0">
                <a:solidFill>
                  <a:srgbClr val="090A0A"/>
                </a:solidFill>
                <a:effectLst/>
                <a:latin typeface="Arial" panose="020B0604020202020204" pitchFamily="34" charset="0"/>
              </a:rPr>
              <a:t>:</a:t>
            </a:r>
            <a:endParaRPr lang="vi-VN" b="1" i="0" dirty="0">
              <a:solidFill>
                <a:srgbClr val="090A0A"/>
              </a:solidFill>
              <a:effectLst/>
              <a:latin typeface="Arial" panose="020B0604020202020204" pitchFamily="34" charset="0"/>
            </a:endParaRPr>
          </a:p>
          <a:p>
            <a:pPr>
              <a:buNone/>
            </a:pPr>
            <a:br>
              <a:rPr lang="vi-VN" dirty="0"/>
            </a:br>
            <a:endParaRPr lang="en-US" dirty="0"/>
          </a:p>
        </p:txBody>
      </p:sp>
      <p:pic>
        <p:nvPicPr>
          <p:cNvPr id="2050" name="Picture 2" descr="Getting Started with the Arduino">
            <a:extLst>
              <a:ext uri="{FF2B5EF4-FFF2-40B4-BE49-F238E27FC236}">
                <a16:creationId xmlns:a16="http://schemas.microsoft.com/office/drawing/2014/main" id="{E06F2B90-162A-601A-69A7-FB849EF75D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9983" y="1329612"/>
            <a:ext cx="9032033" cy="49280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5573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2ED33-60D8-BFDC-B393-D98247ED8C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9C46A-95DD-2E94-2CF6-6894453F7E6F}"/>
              </a:ext>
            </a:extLst>
          </p:cNvPr>
          <p:cNvSpPr>
            <a:spLocks noGrp="1"/>
          </p:cNvSpPr>
          <p:nvPr>
            <p:ph type="title"/>
          </p:nvPr>
        </p:nvSpPr>
        <p:spPr/>
        <p:txBody>
          <a:bodyPr/>
          <a:lstStyle/>
          <a:p>
            <a:r>
              <a:rPr lang="en-US" dirty="0"/>
              <a:t>II. ARDUINO IDE</a:t>
            </a:r>
          </a:p>
        </p:txBody>
      </p:sp>
      <p:sp>
        <p:nvSpPr>
          <p:cNvPr id="6" name="Slide Number Placeholder 5">
            <a:extLst>
              <a:ext uri="{FF2B5EF4-FFF2-40B4-BE49-F238E27FC236}">
                <a16:creationId xmlns:a16="http://schemas.microsoft.com/office/drawing/2014/main" id="{C55C72F6-F768-D4A1-109B-2261562C3AA4}"/>
              </a:ext>
            </a:extLst>
          </p:cNvPr>
          <p:cNvSpPr>
            <a:spLocks noGrp="1"/>
          </p:cNvSpPr>
          <p:nvPr>
            <p:ph type="sldNum" sz="quarter" idx="12"/>
          </p:nvPr>
        </p:nvSpPr>
        <p:spPr/>
        <p:txBody>
          <a:bodyPr/>
          <a:lstStyle/>
          <a:p>
            <a:fld id="{9EA0BE3B-158A-4EDF-80DC-E394A0D1600F}" type="slidenum">
              <a:rPr lang="en-US" smtClean="0"/>
              <a:pPr/>
              <a:t>8</a:t>
            </a:fld>
            <a:endParaRPr lang="en-US"/>
          </a:p>
        </p:txBody>
      </p:sp>
      <p:sp>
        <p:nvSpPr>
          <p:cNvPr id="5" name="TextBox 4">
            <a:extLst>
              <a:ext uri="{FF2B5EF4-FFF2-40B4-BE49-F238E27FC236}">
                <a16:creationId xmlns:a16="http://schemas.microsoft.com/office/drawing/2014/main" id="{C2D5B8F8-FBF5-A8BE-5542-F3451C2B0AD4}"/>
              </a:ext>
            </a:extLst>
          </p:cNvPr>
          <p:cNvSpPr txBox="1"/>
          <p:nvPr/>
        </p:nvSpPr>
        <p:spPr>
          <a:xfrm>
            <a:off x="118966" y="800733"/>
            <a:ext cx="6097554" cy="923330"/>
          </a:xfrm>
          <a:prstGeom prst="rect">
            <a:avLst/>
          </a:prstGeom>
          <a:noFill/>
        </p:spPr>
        <p:txBody>
          <a:bodyPr wrap="square">
            <a:spAutoFit/>
          </a:bodyPr>
          <a:lstStyle/>
          <a:p>
            <a:pPr algn="just">
              <a:buNone/>
            </a:pPr>
            <a:r>
              <a:rPr lang="en-US" b="1" dirty="0" err="1">
                <a:solidFill>
                  <a:srgbClr val="090A0A"/>
                </a:solidFill>
                <a:latin typeface="Arial" panose="020B0604020202020204" pitchFamily="34" charset="0"/>
              </a:rPr>
              <a:t>Một</a:t>
            </a:r>
            <a:r>
              <a:rPr lang="en-US" b="1" dirty="0">
                <a:solidFill>
                  <a:srgbClr val="090A0A"/>
                </a:solidFill>
                <a:latin typeface="Arial" panose="020B0604020202020204" pitchFamily="34" charset="0"/>
              </a:rPr>
              <a:t> </a:t>
            </a:r>
            <a:r>
              <a:rPr lang="en-US" b="1" dirty="0" err="1">
                <a:solidFill>
                  <a:srgbClr val="090A0A"/>
                </a:solidFill>
                <a:latin typeface="Arial" panose="020B0604020202020204" pitchFamily="34" charset="0"/>
              </a:rPr>
              <a:t>vài</a:t>
            </a:r>
            <a:r>
              <a:rPr lang="en-US" b="1" dirty="0">
                <a:solidFill>
                  <a:srgbClr val="090A0A"/>
                </a:solidFill>
                <a:latin typeface="Arial" panose="020B0604020202020204" pitchFamily="34" charset="0"/>
              </a:rPr>
              <a:t> </a:t>
            </a:r>
            <a:r>
              <a:rPr lang="en-US" b="1" dirty="0" err="1">
                <a:solidFill>
                  <a:srgbClr val="090A0A"/>
                </a:solidFill>
                <a:latin typeface="Arial" panose="020B0604020202020204" pitchFamily="34" charset="0"/>
              </a:rPr>
              <a:t>câu</a:t>
            </a:r>
            <a:r>
              <a:rPr lang="en-US" b="1" dirty="0">
                <a:solidFill>
                  <a:srgbClr val="090A0A"/>
                </a:solidFill>
                <a:latin typeface="Arial" panose="020B0604020202020204" pitchFamily="34" charset="0"/>
              </a:rPr>
              <a:t> </a:t>
            </a:r>
            <a:r>
              <a:rPr lang="en-US" b="1" dirty="0" err="1">
                <a:solidFill>
                  <a:srgbClr val="090A0A"/>
                </a:solidFill>
                <a:latin typeface="Arial" panose="020B0604020202020204" pitchFamily="34" charset="0"/>
              </a:rPr>
              <a:t>lệnh</a:t>
            </a:r>
            <a:r>
              <a:rPr lang="en-US" b="1" dirty="0">
                <a:solidFill>
                  <a:srgbClr val="090A0A"/>
                </a:solidFill>
                <a:latin typeface="Arial" panose="020B0604020202020204" pitchFamily="34" charset="0"/>
              </a:rPr>
              <a:t> </a:t>
            </a:r>
            <a:r>
              <a:rPr lang="en-US" b="1" dirty="0" err="1">
                <a:solidFill>
                  <a:srgbClr val="090A0A"/>
                </a:solidFill>
                <a:latin typeface="Arial" panose="020B0604020202020204" pitchFamily="34" charset="0"/>
              </a:rPr>
              <a:t>đơn</a:t>
            </a:r>
            <a:r>
              <a:rPr lang="en-US" b="1" dirty="0">
                <a:solidFill>
                  <a:srgbClr val="090A0A"/>
                </a:solidFill>
                <a:latin typeface="Arial" panose="020B0604020202020204" pitchFamily="34" charset="0"/>
              </a:rPr>
              <a:t> </a:t>
            </a:r>
            <a:r>
              <a:rPr lang="en-US" b="1" dirty="0" err="1">
                <a:solidFill>
                  <a:srgbClr val="090A0A"/>
                </a:solidFill>
                <a:latin typeface="Arial" panose="020B0604020202020204" pitchFamily="34" charset="0"/>
              </a:rPr>
              <a:t>giản</a:t>
            </a:r>
            <a:r>
              <a:rPr lang="en-US" b="1" dirty="0">
                <a:solidFill>
                  <a:srgbClr val="090A0A"/>
                </a:solidFill>
                <a:latin typeface="Arial" panose="020B0604020202020204" pitchFamily="34" charset="0"/>
              </a:rPr>
              <a:t> </a:t>
            </a:r>
            <a:r>
              <a:rPr lang="en-US" b="1" dirty="0" err="1">
                <a:solidFill>
                  <a:srgbClr val="090A0A"/>
                </a:solidFill>
                <a:latin typeface="Arial" panose="020B0604020202020204" pitchFamily="34" charset="0"/>
              </a:rPr>
              <a:t>trong</a:t>
            </a:r>
            <a:r>
              <a:rPr lang="en-US" b="1" dirty="0">
                <a:solidFill>
                  <a:srgbClr val="090A0A"/>
                </a:solidFill>
                <a:latin typeface="Arial" panose="020B0604020202020204" pitchFamily="34" charset="0"/>
              </a:rPr>
              <a:t> Arduino IDE</a:t>
            </a:r>
            <a:endParaRPr lang="vi-VN" b="1" i="0" dirty="0">
              <a:solidFill>
                <a:srgbClr val="090A0A"/>
              </a:solidFill>
              <a:effectLst/>
              <a:latin typeface="Arial" panose="020B0604020202020204" pitchFamily="34" charset="0"/>
            </a:endParaRPr>
          </a:p>
          <a:p>
            <a:pPr>
              <a:buNone/>
            </a:pPr>
            <a:br>
              <a:rPr lang="vi-VN" dirty="0"/>
            </a:br>
            <a:endParaRPr lang="en-US" dirty="0"/>
          </a:p>
        </p:txBody>
      </p:sp>
      <p:pic>
        <p:nvPicPr>
          <p:cNvPr id="4" name="Picture 3">
            <a:extLst>
              <a:ext uri="{FF2B5EF4-FFF2-40B4-BE49-F238E27FC236}">
                <a16:creationId xmlns:a16="http://schemas.microsoft.com/office/drawing/2014/main" id="{50C2AC3D-807E-C041-B25F-86EC3ABBE524}"/>
              </a:ext>
            </a:extLst>
          </p:cNvPr>
          <p:cNvPicPr>
            <a:picLocks noChangeAspect="1"/>
          </p:cNvPicPr>
          <p:nvPr/>
        </p:nvPicPr>
        <p:blipFill>
          <a:blip r:embed="rId2"/>
          <a:stretch>
            <a:fillRect/>
          </a:stretch>
        </p:blipFill>
        <p:spPr>
          <a:xfrm>
            <a:off x="1259633" y="1262398"/>
            <a:ext cx="9302620" cy="5000220"/>
          </a:xfrm>
          <a:prstGeom prst="rect">
            <a:avLst/>
          </a:prstGeom>
        </p:spPr>
      </p:pic>
    </p:spTree>
    <p:extLst>
      <p:ext uri="{BB962C8B-B14F-4D97-AF65-F5344CB8AC3E}">
        <p14:creationId xmlns:p14="http://schemas.microsoft.com/office/powerpoint/2010/main" val="1674767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A5C1A-DCBB-BAC1-9339-CB9ED8A32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90F8DA-13F7-8A49-2721-77556E3402AC}"/>
              </a:ext>
            </a:extLst>
          </p:cNvPr>
          <p:cNvSpPr>
            <a:spLocks noGrp="1"/>
          </p:cNvSpPr>
          <p:nvPr>
            <p:ph type="title"/>
          </p:nvPr>
        </p:nvSpPr>
        <p:spPr/>
        <p:txBody>
          <a:bodyPr/>
          <a:lstStyle/>
          <a:p>
            <a:r>
              <a:rPr lang="en-US" dirty="0"/>
              <a:t>III. </a:t>
            </a:r>
            <a:r>
              <a:rPr lang="en-US" dirty="0" err="1"/>
              <a:t>Tín</a:t>
            </a:r>
            <a:r>
              <a:rPr lang="en-US" dirty="0"/>
              <a:t> </a:t>
            </a:r>
            <a:r>
              <a:rPr lang="en-US" dirty="0" err="1"/>
              <a:t>hiệu</a:t>
            </a:r>
            <a:endParaRPr lang="en-US" dirty="0"/>
          </a:p>
        </p:txBody>
      </p:sp>
      <p:sp>
        <p:nvSpPr>
          <p:cNvPr id="6" name="Slide Number Placeholder 5">
            <a:extLst>
              <a:ext uri="{FF2B5EF4-FFF2-40B4-BE49-F238E27FC236}">
                <a16:creationId xmlns:a16="http://schemas.microsoft.com/office/drawing/2014/main" id="{24B4BA44-65F1-E765-02F4-C7C332E6E3F4}"/>
              </a:ext>
            </a:extLst>
          </p:cNvPr>
          <p:cNvSpPr>
            <a:spLocks noGrp="1"/>
          </p:cNvSpPr>
          <p:nvPr>
            <p:ph type="sldNum" sz="quarter" idx="12"/>
          </p:nvPr>
        </p:nvSpPr>
        <p:spPr/>
        <p:txBody>
          <a:bodyPr/>
          <a:lstStyle/>
          <a:p>
            <a:fld id="{9EA0BE3B-158A-4EDF-80DC-E394A0D1600F}" type="slidenum">
              <a:rPr lang="en-US" smtClean="0"/>
              <a:pPr/>
              <a:t>9</a:t>
            </a:fld>
            <a:endParaRPr lang="en-US"/>
          </a:p>
        </p:txBody>
      </p:sp>
      <p:pic>
        <p:nvPicPr>
          <p:cNvPr id="7" name="Picture 6">
            <a:extLst>
              <a:ext uri="{FF2B5EF4-FFF2-40B4-BE49-F238E27FC236}">
                <a16:creationId xmlns:a16="http://schemas.microsoft.com/office/drawing/2014/main" id="{17CC6FC4-000D-E8A7-A519-6983267D4FCD}"/>
              </a:ext>
            </a:extLst>
          </p:cNvPr>
          <p:cNvPicPr>
            <a:picLocks noChangeAspect="1"/>
          </p:cNvPicPr>
          <p:nvPr/>
        </p:nvPicPr>
        <p:blipFill>
          <a:blip r:embed="rId2"/>
          <a:stretch>
            <a:fillRect/>
          </a:stretch>
        </p:blipFill>
        <p:spPr>
          <a:xfrm>
            <a:off x="4506686" y="1178587"/>
            <a:ext cx="7108258" cy="4684342"/>
          </a:xfrm>
          <a:prstGeom prst="rect">
            <a:avLst/>
          </a:prstGeom>
        </p:spPr>
      </p:pic>
      <p:sp>
        <p:nvSpPr>
          <p:cNvPr id="9" name="TextBox 8">
            <a:extLst>
              <a:ext uri="{FF2B5EF4-FFF2-40B4-BE49-F238E27FC236}">
                <a16:creationId xmlns:a16="http://schemas.microsoft.com/office/drawing/2014/main" id="{D538A02C-0461-AAA5-9665-FB6A6C2F46F9}"/>
              </a:ext>
            </a:extLst>
          </p:cNvPr>
          <p:cNvSpPr txBox="1"/>
          <p:nvPr/>
        </p:nvSpPr>
        <p:spPr>
          <a:xfrm>
            <a:off x="338736" y="1241221"/>
            <a:ext cx="4466529" cy="4226798"/>
          </a:xfrm>
          <a:prstGeom prst="rect">
            <a:avLst/>
          </a:prstGeom>
          <a:noFill/>
        </p:spPr>
        <p:txBody>
          <a:bodyPr wrap="square">
            <a:spAutoFit/>
          </a:bodyPr>
          <a:lstStyle/>
          <a:p>
            <a:pPr algn="just">
              <a:spcAft>
                <a:spcPts val="975"/>
              </a:spcAft>
              <a:buNone/>
            </a:pPr>
            <a:r>
              <a:rPr lang="vi-VN" b="1" i="0" dirty="0">
                <a:solidFill>
                  <a:srgbClr val="222222"/>
                </a:solidFill>
                <a:effectLst/>
                <a:latin typeface="Open Sans" panose="020F0502020204030204" pitchFamily="34" charset="0"/>
              </a:rPr>
              <a:t>+ Tín hiệu Digital</a:t>
            </a:r>
            <a:r>
              <a:rPr lang="vi-VN" b="0" i="0" dirty="0">
                <a:solidFill>
                  <a:srgbClr val="222222"/>
                </a:solidFill>
                <a:effectLst/>
                <a:latin typeface="Open Sans" panose="020F0502020204030204" pitchFamily="34" charset="0"/>
              </a:rPr>
              <a:t>: chỉ có hai mức giá trị cố định: </a:t>
            </a:r>
            <a:r>
              <a:rPr lang="vi-VN" b="1" i="0" dirty="0">
                <a:solidFill>
                  <a:srgbClr val="222222"/>
                </a:solidFill>
                <a:effectLst/>
                <a:latin typeface="Open Sans" panose="020F0502020204030204" pitchFamily="34" charset="0"/>
              </a:rPr>
              <a:t>0</a:t>
            </a:r>
            <a:r>
              <a:rPr lang="vi-VN" b="0" i="0" dirty="0">
                <a:solidFill>
                  <a:srgbClr val="222222"/>
                </a:solidFill>
                <a:effectLst/>
                <a:latin typeface="Open Sans" panose="020F0502020204030204" pitchFamily="34" charset="0"/>
              </a:rPr>
              <a:t> (OFF) và </a:t>
            </a:r>
            <a:r>
              <a:rPr lang="vi-VN" b="1" i="0" dirty="0">
                <a:solidFill>
                  <a:srgbClr val="222222"/>
                </a:solidFill>
                <a:effectLst/>
                <a:latin typeface="Open Sans" panose="020F0502020204030204" pitchFamily="34" charset="0"/>
              </a:rPr>
              <a:t>1</a:t>
            </a:r>
            <a:r>
              <a:rPr lang="vi-VN" b="0" i="0" dirty="0">
                <a:solidFill>
                  <a:srgbClr val="222222"/>
                </a:solidFill>
                <a:effectLst/>
                <a:latin typeface="Open Sans" panose="020F0502020204030204" pitchFamily="34" charset="0"/>
              </a:rPr>
              <a:t> (ON). Điều này làm cho tín hiệu Digital thích hợp cho các ứng dụng điều khiển đơn giản và có thể dễ dàng xử lý trong các mạch logic số.</a:t>
            </a:r>
            <a:endParaRPr lang="en-US" b="0" i="0" dirty="0">
              <a:solidFill>
                <a:srgbClr val="222222"/>
              </a:solidFill>
              <a:effectLst/>
              <a:latin typeface="Open Sans" panose="020F0502020204030204" pitchFamily="34" charset="0"/>
            </a:endParaRPr>
          </a:p>
          <a:p>
            <a:pPr algn="just">
              <a:spcAft>
                <a:spcPts val="975"/>
              </a:spcAft>
              <a:buNone/>
            </a:pPr>
            <a:endParaRPr lang="vi-VN" b="0" i="0" dirty="0">
              <a:solidFill>
                <a:srgbClr val="222222"/>
              </a:solidFill>
              <a:effectLst/>
              <a:latin typeface="Poppins" panose="00000500000000000000" pitchFamily="2" charset="0"/>
            </a:endParaRPr>
          </a:p>
          <a:p>
            <a:pPr algn="just">
              <a:spcAft>
                <a:spcPts val="975"/>
              </a:spcAft>
              <a:buNone/>
            </a:pPr>
            <a:r>
              <a:rPr lang="vi-VN" b="1" i="0" dirty="0">
                <a:solidFill>
                  <a:srgbClr val="222222"/>
                </a:solidFill>
                <a:effectLst/>
                <a:latin typeface="Open Sans" panose="020F0502020204030204" pitchFamily="34" charset="0"/>
              </a:rPr>
              <a:t>+ Tín hiệu Analog:</a:t>
            </a:r>
            <a:r>
              <a:rPr lang="vi-VN" b="0" i="0" dirty="0">
                <a:solidFill>
                  <a:srgbClr val="222222"/>
                </a:solidFill>
                <a:effectLst/>
                <a:latin typeface="Open Sans" panose="020F0502020204030204" pitchFamily="34" charset="0"/>
              </a:rPr>
              <a:t> có sự thay đổi liên tục về biên độ và tần số, tạo ra các giá trị vô cùng chính xác và liên tục trong khoảng thời gian. Điều này giúp tín hiệu Analog thích hợp cho các ứng dụng yêu cầu đo lường và kiểm soát liên tục, chẳng hạn như cảm biến nhiệt độ, áp suất hoặc tốc độ.</a:t>
            </a:r>
            <a:endParaRPr lang="vi-VN" b="0" i="0" dirty="0">
              <a:solidFill>
                <a:srgbClr val="222222"/>
              </a:solidFill>
              <a:effectLst/>
              <a:latin typeface="Poppins" panose="00000500000000000000" pitchFamily="2" charset="0"/>
            </a:endParaRPr>
          </a:p>
        </p:txBody>
      </p:sp>
    </p:spTree>
    <p:extLst>
      <p:ext uri="{BB962C8B-B14F-4D97-AF65-F5344CB8AC3E}">
        <p14:creationId xmlns:p14="http://schemas.microsoft.com/office/powerpoint/2010/main" val="1488252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0C28F-E222-6733-03C6-92EC2629A5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408D8-C86C-2006-BB17-B87310FE11F8}"/>
              </a:ext>
            </a:extLst>
          </p:cNvPr>
          <p:cNvSpPr>
            <a:spLocks noGrp="1"/>
          </p:cNvSpPr>
          <p:nvPr>
            <p:ph type="title"/>
          </p:nvPr>
        </p:nvSpPr>
        <p:spPr/>
        <p:txBody>
          <a:bodyPr/>
          <a:lstStyle/>
          <a:p>
            <a:r>
              <a:rPr lang="en-US" dirty="0"/>
              <a:t>III. </a:t>
            </a:r>
            <a:r>
              <a:rPr lang="en-US" dirty="0" err="1"/>
              <a:t>Tín</a:t>
            </a:r>
            <a:r>
              <a:rPr lang="en-US" dirty="0"/>
              <a:t> </a:t>
            </a:r>
            <a:r>
              <a:rPr lang="en-US" dirty="0" err="1"/>
              <a:t>hiệu</a:t>
            </a:r>
            <a:endParaRPr lang="en-US" dirty="0"/>
          </a:p>
        </p:txBody>
      </p:sp>
      <p:sp>
        <p:nvSpPr>
          <p:cNvPr id="6" name="Slide Number Placeholder 5">
            <a:extLst>
              <a:ext uri="{FF2B5EF4-FFF2-40B4-BE49-F238E27FC236}">
                <a16:creationId xmlns:a16="http://schemas.microsoft.com/office/drawing/2014/main" id="{38FEC1C4-01FD-C735-C63F-CC2191BA5C87}"/>
              </a:ext>
            </a:extLst>
          </p:cNvPr>
          <p:cNvSpPr>
            <a:spLocks noGrp="1"/>
          </p:cNvSpPr>
          <p:nvPr>
            <p:ph type="sldNum" sz="quarter" idx="12"/>
          </p:nvPr>
        </p:nvSpPr>
        <p:spPr/>
        <p:txBody>
          <a:bodyPr/>
          <a:lstStyle/>
          <a:p>
            <a:fld id="{9EA0BE3B-158A-4EDF-80DC-E394A0D1600F}" type="slidenum">
              <a:rPr lang="en-US" smtClean="0"/>
              <a:pPr/>
              <a:t>10</a:t>
            </a:fld>
            <a:endParaRPr lang="en-US"/>
          </a:p>
        </p:txBody>
      </p:sp>
      <p:pic>
        <p:nvPicPr>
          <p:cNvPr id="3" name="Picture 2">
            <a:extLst>
              <a:ext uri="{FF2B5EF4-FFF2-40B4-BE49-F238E27FC236}">
                <a16:creationId xmlns:a16="http://schemas.microsoft.com/office/drawing/2014/main" id="{8EFCB326-E987-1B13-446F-837D28820AC7}"/>
              </a:ext>
            </a:extLst>
          </p:cNvPr>
          <p:cNvPicPr>
            <a:picLocks noChangeAspect="1"/>
          </p:cNvPicPr>
          <p:nvPr/>
        </p:nvPicPr>
        <p:blipFill>
          <a:blip r:embed="rId2"/>
          <a:stretch>
            <a:fillRect/>
          </a:stretch>
        </p:blipFill>
        <p:spPr>
          <a:xfrm>
            <a:off x="6970606" y="1367807"/>
            <a:ext cx="4782217" cy="4305901"/>
          </a:xfrm>
          <a:prstGeom prst="rect">
            <a:avLst/>
          </a:prstGeom>
        </p:spPr>
      </p:pic>
      <p:sp>
        <p:nvSpPr>
          <p:cNvPr id="5" name="TextBox 4">
            <a:extLst>
              <a:ext uri="{FF2B5EF4-FFF2-40B4-BE49-F238E27FC236}">
                <a16:creationId xmlns:a16="http://schemas.microsoft.com/office/drawing/2014/main" id="{C73104E7-70AF-2DD6-97F5-007B1DDBB164}"/>
              </a:ext>
            </a:extLst>
          </p:cNvPr>
          <p:cNvSpPr txBox="1"/>
          <p:nvPr/>
        </p:nvSpPr>
        <p:spPr>
          <a:xfrm>
            <a:off x="551144" y="2136338"/>
            <a:ext cx="6097554" cy="2585323"/>
          </a:xfrm>
          <a:prstGeom prst="rect">
            <a:avLst/>
          </a:prstGeom>
          <a:noFill/>
        </p:spPr>
        <p:txBody>
          <a:bodyPr wrap="square">
            <a:spAutoFit/>
          </a:bodyPr>
          <a:lstStyle/>
          <a:p>
            <a:pPr marL="285750" indent="-285750">
              <a:buFont typeface="Wingdings" panose="05000000000000000000" pitchFamily="2" charset="2"/>
              <a:buChar char="§"/>
            </a:pPr>
            <a:r>
              <a:rPr lang="vi-VN" b="0" i="0" dirty="0">
                <a:solidFill>
                  <a:srgbClr val="333333"/>
                </a:solidFill>
                <a:effectLst/>
                <a:latin typeface="Roboto" panose="02000000000000000000" pitchFamily="2" charset="0"/>
              </a:rPr>
              <a:t>PWM là một loại tín hiệu ở dạng một xung đơn, sóng vuông. Tức là, tín hiệu xung PWM sẽ ở hai mức cao hoặc thấp.</a:t>
            </a:r>
            <a:endParaRPr lang="en-US" b="0" i="0" dirty="0">
              <a:solidFill>
                <a:srgbClr val="333333"/>
              </a:solidFill>
              <a:effectLst/>
              <a:latin typeface="Roboto" panose="02000000000000000000" pitchFamily="2" charset="0"/>
            </a:endParaRPr>
          </a:p>
          <a:p>
            <a:pPr marL="285750" indent="-285750">
              <a:buFont typeface="Wingdings" panose="05000000000000000000" pitchFamily="2" charset="2"/>
              <a:buChar char="§"/>
            </a:pPr>
            <a:endParaRPr lang="en-US" dirty="0">
              <a:solidFill>
                <a:srgbClr val="333333"/>
              </a:solidFill>
              <a:latin typeface="Roboto" panose="02000000000000000000" pitchFamily="2" charset="0"/>
            </a:endParaRPr>
          </a:p>
          <a:p>
            <a:pPr marL="285750" indent="-285750">
              <a:buFont typeface="Wingdings" panose="05000000000000000000" pitchFamily="2" charset="2"/>
              <a:buChar char="§"/>
            </a:pPr>
            <a:endParaRPr lang="en-US" b="0" i="0" dirty="0">
              <a:solidFill>
                <a:srgbClr val="333333"/>
              </a:solidFill>
              <a:effectLst/>
              <a:latin typeface="Roboto" panose="02000000000000000000" pitchFamily="2" charset="0"/>
            </a:endParaRPr>
          </a:p>
          <a:p>
            <a:pPr marL="285750" indent="-285750">
              <a:buFont typeface="Wingdings" panose="05000000000000000000" pitchFamily="2" charset="2"/>
              <a:buChar char="§"/>
            </a:pPr>
            <a:r>
              <a:rPr lang="vi-VN" dirty="0"/>
              <a:t> Thay vì điều khiển điện áp liên tục, ta điều khiển điện áp bằng các xung có tần số cố định, nhưng có độ rộng xung thay đổi. Khi đó giá trị trung bình điện áp cũng thay đổi, để điều khiển được tốc độ động cơ một chiều.</a:t>
            </a:r>
            <a:endParaRPr lang="en-US" dirty="0"/>
          </a:p>
        </p:txBody>
      </p:sp>
    </p:spTree>
    <p:extLst>
      <p:ext uri="{BB962C8B-B14F-4D97-AF65-F5344CB8AC3E}">
        <p14:creationId xmlns:p14="http://schemas.microsoft.com/office/powerpoint/2010/main" val="4211170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A2089-5062-5560-807E-DCCB7DCB24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6CB5FE-42E3-B19B-B2F2-D39889F50923}"/>
              </a:ext>
            </a:extLst>
          </p:cNvPr>
          <p:cNvSpPr>
            <a:spLocks noGrp="1"/>
          </p:cNvSpPr>
          <p:nvPr>
            <p:ph type="title"/>
          </p:nvPr>
        </p:nvSpPr>
        <p:spPr/>
        <p:txBody>
          <a:bodyPr/>
          <a:lstStyle/>
          <a:p>
            <a:r>
              <a:rPr lang="en-US" dirty="0" err="1"/>
              <a:t>Bài</a:t>
            </a:r>
            <a:r>
              <a:rPr lang="en-US" dirty="0"/>
              <a:t> </a:t>
            </a:r>
            <a:r>
              <a:rPr lang="en-US" dirty="0" err="1"/>
              <a:t>tập</a:t>
            </a:r>
            <a:endParaRPr lang="en-US" dirty="0"/>
          </a:p>
        </p:txBody>
      </p:sp>
      <p:sp>
        <p:nvSpPr>
          <p:cNvPr id="6" name="Slide Number Placeholder 5">
            <a:extLst>
              <a:ext uri="{FF2B5EF4-FFF2-40B4-BE49-F238E27FC236}">
                <a16:creationId xmlns:a16="http://schemas.microsoft.com/office/drawing/2014/main" id="{B72A0920-5E6F-B8D2-7898-C7158C7C8FF4}"/>
              </a:ext>
            </a:extLst>
          </p:cNvPr>
          <p:cNvSpPr>
            <a:spLocks noGrp="1"/>
          </p:cNvSpPr>
          <p:nvPr>
            <p:ph type="sldNum" sz="quarter" idx="12"/>
          </p:nvPr>
        </p:nvSpPr>
        <p:spPr/>
        <p:txBody>
          <a:bodyPr/>
          <a:lstStyle/>
          <a:p>
            <a:fld id="{9EA0BE3B-158A-4EDF-80DC-E394A0D1600F}" type="slidenum">
              <a:rPr lang="en-US" smtClean="0"/>
              <a:pPr/>
              <a:t>11</a:t>
            </a:fld>
            <a:endParaRPr lang="en-US"/>
          </a:p>
        </p:txBody>
      </p:sp>
      <p:sp>
        <p:nvSpPr>
          <p:cNvPr id="5" name="TextBox 4">
            <a:extLst>
              <a:ext uri="{FF2B5EF4-FFF2-40B4-BE49-F238E27FC236}">
                <a16:creationId xmlns:a16="http://schemas.microsoft.com/office/drawing/2014/main" id="{FD551E02-1BE4-CC09-49EC-97B217CD4E99}"/>
              </a:ext>
            </a:extLst>
          </p:cNvPr>
          <p:cNvSpPr txBox="1"/>
          <p:nvPr/>
        </p:nvSpPr>
        <p:spPr>
          <a:xfrm>
            <a:off x="338735" y="1203277"/>
            <a:ext cx="9309117" cy="1477328"/>
          </a:xfrm>
          <a:prstGeom prst="rect">
            <a:avLst/>
          </a:prstGeom>
          <a:noFill/>
        </p:spPr>
        <p:txBody>
          <a:bodyPr wrap="square">
            <a:spAutoFit/>
          </a:bodyPr>
          <a:lstStyle/>
          <a:p>
            <a:r>
              <a:rPr lang="en-US" dirty="0" err="1">
                <a:solidFill>
                  <a:srgbClr val="333333"/>
                </a:solidFill>
                <a:latin typeface="Roboto" panose="02000000000000000000" pitchFamily="2" charset="0"/>
              </a:rPr>
              <a:t>Bài</a:t>
            </a:r>
            <a:r>
              <a:rPr lang="en-US" dirty="0">
                <a:solidFill>
                  <a:srgbClr val="333333"/>
                </a:solidFill>
                <a:latin typeface="Roboto" panose="02000000000000000000" pitchFamily="2" charset="0"/>
              </a:rPr>
              <a:t> 1 : </a:t>
            </a:r>
            <a:r>
              <a:rPr lang="en-US" dirty="0" err="1">
                <a:solidFill>
                  <a:srgbClr val="333333"/>
                </a:solidFill>
                <a:latin typeface="Roboto" panose="02000000000000000000" pitchFamily="2" charset="0"/>
              </a:rPr>
              <a:t>Từ</a:t>
            </a:r>
            <a:r>
              <a:rPr lang="en-US" dirty="0">
                <a:solidFill>
                  <a:srgbClr val="333333"/>
                </a:solidFill>
                <a:latin typeface="Roboto" panose="02000000000000000000" pitchFamily="2" charset="0"/>
              </a:rPr>
              <a:t> </a:t>
            </a:r>
            <a:r>
              <a:rPr lang="en-US" dirty="0" err="1">
                <a:solidFill>
                  <a:srgbClr val="333333"/>
                </a:solidFill>
                <a:latin typeface="Roboto" panose="02000000000000000000" pitchFamily="2" charset="0"/>
              </a:rPr>
              <a:t>kiến</a:t>
            </a:r>
            <a:r>
              <a:rPr lang="en-US" dirty="0">
                <a:solidFill>
                  <a:srgbClr val="333333"/>
                </a:solidFill>
                <a:latin typeface="Roboto" panose="02000000000000000000" pitchFamily="2" charset="0"/>
              </a:rPr>
              <a:t> </a:t>
            </a:r>
            <a:r>
              <a:rPr lang="en-US" dirty="0" err="1">
                <a:solidFill>
                  <a:srgbClr val="333333"/>
                </a:solidFill>
                <a:latin typeface="Roboto" panose="02000000000000000000" pitchFamily="2" charset="0"/>
              </a:rPr>
              <a:t>thức</a:t>
            </a:r>
            <a:r>
              <a:rPr lang="en-US" dirty="0">
                <a:solidFill>
                  <a:srgbClr val="333333"/>
                </a:solidFill>
                <a:latin typeface="Roboto" panose="02000000000000000000" pitchFamily="2" charset="0"/>
              </a:rPr>
              <a:t> </a:t>
            </a:r>
            <a:r>
              <a:rPr lang="en-US" dirty="0" err="1">
                <a:solidFill>
                  <a:srgbClr val="333333"/>
                </a:solidFill>
                <a:latin typeface="Roboto" panose="02000000000000000000" pitchFamily="2" charset="0"/>
              </a:rPr>
              <a:t>đã</a:t>
            </a:r>
            <a:r>
              <a:rPr lang="en-US" dirty="0">
                <a:solidFill>
                  <a:srgbClr val="333333"/>
                </a:solidFill>
                <a:latin typeface="Roboto" panose="02000000000000000000" pitchFamily="2" charset="0"/>
              </a:rPr>
              <a:t> </a:t>
            </a:r>
            <a:r>
              <a:rPr lang="en-US" dirty="0" err="1">
                <a:solidFill>
                  <a:srgbClr val="333333"/>
                </a:solidFill>
                <a:latin typeface="Roboto" panose="02000000000000000000" pitchFamily="2" charset="0"/>
              </a:rPr>
              <a:t>học</a:t>
            </a:r>
            <a:r>
              <a:rPr lang="en-US" dirty="0">
                <a:solidFill>
                  <a:srgbClr val="333333"/>
                </a:solidFill>
                <a:latin typeface="Roboto" panose="02000000000000000000" pitchFamily="2" charset="0"/>
              </a:rPr>
              <a:t> </a:t>
            </a:r>
            <a:r>
              <a:rPr lang="en-US" dirty="0" err="1">
                <a:solidFill>
                  <a:srgbClr val="333333"/>
                </a:solidFill>
                <a:latin typeface="Roboto" panose="02000000000000000000" pitchFamily="2" charset="0"/>
              </a:rPr>
              <a:t>hãy</a:t>
            </a:r>
            <a:r>
              <a:rPr lang="en-US" dirty="0">
                <a:solidFill>
                  <a:srgbClr val="333333"/>
                </a:solidFill>
                <a:latin typeface="Roboto" panose="02000000000000000000" pitchFamily="2" charset="0"/>
              </a:rPr>
              <a:t> </a:t>
            </a:r>
            <a:r>
              <a:rPr lang="en-US" dirty="0" err="1">
                <a:solidFill>
                  <a:srgbClr val="333333"/>
                </a:solidFill>
                <a:latin typeface="Roboto" panose="02000000000000000000" pitchFamily="2" charset="0"/>
              </a:rPr>
              <a:t>xây</a:t>
            </a:r>
            <a:r>
              <a:rPr lang="en-US" dirty="0">
                <a:solidFill>
                  <a:srgbClr val="333333"/>
                </a:solidFill>
                <a:latin typeface="Roboto" panose="02000000000000000000" pitchFamily="2" charset="0"/>
              </a:rPr>
              <a:t> </a:t>
            </a:r>
            <a:r>
              <a:rPr lang="en-US" dirty="0" err="1">
                <a:solidFill>
                  <a:srgbClr val="333333"/>
                </a:solidFill>
                <a:latin typeface="Roboto" panose="02000000000000000000" pitchFamily="2" charset="0"/>
              </a:rPr>
              <a:t>dựng</a:t>
            </a:r>
            <a:r>
              <a:rPr lang="en-US" dirty="0">
                <a:solidFill>
                  <a:srgbClr val="333333"/>
                </a:solidFill>
                <a:latin typeface="Roboto" panose="02000000000000000000" pitchFamily="2" charset="0"/>
              </a:rPr>
              <a:t> </a:t>
            </a:r>
            <a:r>
              <a:rPr lang="en-US" dirty="0" err="1">
                <a:solidFill>
                  <a:srgbClr val="333333"/>
                </a:solidFill>
                <a:latin typeface="Roboto" panose="02000000000000000000" pitchFamily="2" charset="0"/>
              </a:rPr>
              <a:t>một</a:t>
            </a:r>
            <a:r>
              <a:rPr lang="en-US" dirty="0">
                <a:solidFill>
                  <a:srgbClr val="333333"/>
                </a:solidFill>
                <a:latin typeface="Roboto" panose="02000000000000000000" pitchFamily="2" charset="0"/>
              </a:rPr>
              <a:t> </a:t>
            </a:r>
            <a:r>
              <a:rPr lang="en-US" dirty="0" err="1">
                <a:solidFill>
                  <a:srgbClr val="333333"/>
                </a:solidFill>
                <a:latin typeface="Roboto" panose="02000000000000000000" pitchFamily="2" charset="0"/>
              </a:rPr>
              <a:t>mạch</a:t>
            </a:r>
            <a:r>
              <a:rPr lang="en-US" dirty="0">
                <a:solidFill>
                  <a:srgbClr val="333333"/>
                </a:solidFill>
                <a:latin typeface="Roboto" panose="02000000000000000000" pitchFamily="2" charset="0"/>
              </a:rPr>
              <a:t> </a:t>
            </a:r>
            <a:r>
              <a:rPr lang="en-US" dirty="0" err="1">
                <a:solidFill>
                  <a:srgbClr val="333333"/>
                </a:solidFill>
                <a:latin typeface="Roboto" panose="02000000000000000000" pitchFamily="2" charset="0"/>
              </a:rPr>
              <a:t>bật</a:t>
            </a:r>
            <a:r>
              <a:rPr lang="en-US" dirty="0">
                <a:solidFill>
                  <a:srgbClr val="333333"/>
                </a:solidFill>
                <a:latin typeface="Roboto" panose="02000000000000000000" pitchFamily="2" charset="0"/>
              </a:rPr>
              <a:t> </a:t>
            </a:r>
            <a:r>
              <a:rPr lang="en-US" dirty="0" err="1">
                <a:solidFill>
                  <a:srgbClr val="333333"/>
                </a:solidFill>
                <a:latin typeface="Roboto" panose="02000000000000000000" pitchFamily="2" charset="0"/>
              </a:rPr>
              <a:t>tắt</a:t>
            </a:r>
            <a:r>
              <a:rPr lang="en-US" dirty="0">
                <a:solidFill>
                  <a:srgbClr val="333333"/>
                </a:solidFill>
                <a:latin typeface="Roboto" panose="02000000000000000000" pitchFamily="2" charset="0"/>
              </a:rPr>
              <a:t> </a:t>
            </a:r>
            <a:r>
              <a:rPr lang="en-US" dirty="0" err="1">
                <a:solidFill>
                  <a:srgbClr val="333333"/>
                </a:solidFill>
                <a:latin typeface="Roboto" panose="02000000000000000000" pitchFamily="2" charset="0"/>
              </a:rPr>
              <a:t>đèn</a:t>
            </a:r>
            <a:r>
              <a:rPr lang="en-US" dirty="0">
                <a:solidFill>
                  <a:srgbClr val="333333"/>
                </a:solidFill>
                <a:latin typeface="Roboto" panose="02000000000000000000" pitchFamily="2" charset="0"/>
              </a:rPr>
              <a:t> LED </a:t>
            </a:r>
            <a:r>
              <a:rPr lang="en-US" dirty="0" err="1">
                <a:solidFill>
                  <a:srgbClr val="333333"/>
                </a:solidFill>
                <a:latin typeface="Roboto" panose="02000000000000000000" pitchFamily="2" charset="0"/>
              </a:rPr>
              <a:t>đơn</a:t>
            </a:r>
            <a:r>
              <a:rPr lang="en-US" dirty="0">
                <a:solidFill>
                  <a:srgbClr val="333333"/>
                </a:solidFill>
                <a:latin typeface="Roboto" panose="02000000000000000000" pitchFamily="2" charset="0"/>
              </a:rPr>
              <a:t> </a:t>
            </a:r>
            <a:r>
              <a:rPr lang="en-US" dirty="0" err="1">
                <a:solidFill>
                  <a:srgbClr val="333333"/>
                </a:solidFill>
                <a:latin typeface="Roboto" panose="02000000000000000000" pitchFamily="2" charset="0"/>
              </a:rPr>
              <a:t>giản</a:t>
            </a:r>
            <a:r>
              <a:rPr lang="en-US" dirty="0">
                <a:solidFill>
                  <a:srgbClr val="333333"/>
                </a:solidFill>
                <a:latin typeface="Roboto" panose="02000000000000000000" pitchFamily="2" charset="0"/>
              </a:rPr>
              <a:t> .</a:t>
            </a:r>
          </a:p>
          <a:p>
            <a:r>
              <a:rPr lang="en-US" dirty="0">
                <a:solidFill>
                  <a:srgbClr val="333333"/>
                </a:solidFill>
                <a:latin typeface="Roboto" panose="02000000000000000000" pitchFamily="2" charset="0"/>
              </a:rPr>
              <a:t> </a:t>
            </a:r>
          </a:p>
          <a:p>
            <a:endParaRPr lang="en-US" dirty="0">
              <a:solidFill>
                <a:srgbClr val="333333"/>
              </a:solidFill>
              <a:latin typeface="Roboto" panose="02000000000000000000" pitchFamily="2" charset="0"/>
            </a:endParaRPr>
          </a:p>
          <a:p>
            <a:r>
              <a:rPr lang="en-US" dirty="0" err="1">
                <a:solidFill>
                  <a:srgbClr val="333333"/>
                </a:solidFill>
                <a:latin typeface="Roboto" panose="02000000000000000000" pitchFamily="2" charset="0"/>
              </a:rPr>
              <a:t>Bài</a:t>
            </a:r>
            <a:r>
              <a:rPr lang="en-US" dirty="0">
                <a:solidFill>
                  <a:srgbClr val="333333"/>
                </a:solidFill>
                <a:latin typeface="Roboto" panose="02000000000000000000" pitchFamily="2" charset="0"/>
              </a:rPr>
              <a:t> 2 : </a:t>
            </a:r>
            <a:r>
              <a:rPr lang="en-US" dirty="0" err="1">
                <a:solidFill>
                  <a:srgbClr val="333333"/>
                </a:solidFill>
                <a:latin typeface="Roboto" panose="02000000000000000000" pitchFamily="2" charset="0"/>
              </a:rPr>
              <a:t>Từ</a:t>
            </a:r>
            <a:r>
              <a:rPr lang="en-US" dirty="0">
                <a:solidFill>
                  <a:srgbClr val="333333"/>
                </a:solidFill>
                <a:latin typeface="Roboto" panose="02000000000000000000" pitchFamily="2" charset="0"/>
              </a:rPr>
              <a:t> </a:t>
            </a:r>
            <a:r>
              <a:rPr lang="en-US" dirty="0" err="1">
                <a:solidFill>
                  <a:srgbClr val="333333"/>
                </a:solidFill>
                <a:latin typeface="Roboto" panose="02000000000000000000" pitchFamily="2" charset="0"/>
              </a:rPr>
              <a:t>bài</a:t>
            </a:r>
            <a:r>
              <a:rPr lang="en-US" dirty="0">
                <a:solidFill>
                  <a:srgbClr val="333333"/>
                </a:solidFill>
                <a:latin typeface="Roboto" panose="02000000000000000000" pitchFamily="2" charset="0"/>
              </a:rPr>
              <a:t> 1 </a:t>
            </a:r>
            <a:r>
              <a:rPr lang="en-US" dirty="0" err="1">
                <a:solidFill>
                  <a:srgbClr val="333333"/>
                </a:solidFill>
                <a:latin typeface="Roboto" panose="02000000000000000000" pitchFamily="2" charset="0"/>
              </a:rPr>
              <a:t>hãy</a:t>
            </a:r>
            <a:r>
              <a:rPr lang="en-US" dirty="0">
                <a:solidFill>
                  <a:srgbClr val="333333"/>
                </a:solidFill>
                <a:latin typeface="Roboto" panose="02000000000000000000" pitchFamily="2" charset="0"/>
              </a:rPr>
              <a:t> </a:t>
            </a:r>
            <a:r>
              <a:rPr lang="en-US" dirty="0" err="1">
                <a:solidFill>
                  <a:srgbClr val="333333"/>
                </a:solidFill>
                <a:latin typeface="Roboto" panose="02000000000000000000" pitchFamily="2" charset="0"/>
              </a:rPr>
              <a:t>làm</a:t>
            </a:r>
            <a:r>
              <a:rPr lang="en-US" dirty="0">
                <a:solidFill>
                  <a:srgbClr val="333333"/>
                </a:solidFill>
                <a:latin typeface="Roboto" panose="02000000000000000000" pitchFamily="2" charset="0"/>
              </a:rPr>
              <a:t> </a:t>
            </a:r>
            <a:r>
              <a:rPr lang="en-US" dirty="0" err="1">
                <a:solidFill>
                  <a:srgbClr val="333333"/>
                </a:solidFill>
                <a:latin typeface="Roboto" panose="02000000000000000000" pitchFamily="2" charset="0"/>
              </a:rPr>
              <a:t>thay</a:t>
            </a:r>
            <a:r>
              <a:rPr lang="en-US" dirty="0">
                <a:solidFill>
                  <a:srgbClr val="333333"/>
                </a:solidFill>
                <a:latin typeface="Roboto" panose="02000000000000000000" pitchFamily="2" charset="0"/>
              </a:rPr>
              <a:t> </a:t>
            </a:r>
            <a:r>
              <a:rPr lang="en-US" dirty="0" err="1">
                <a:solidFill>
                  <a:srgbClr val="333333"/>
                </a:solidFill>
                <a:latin typeface="Roboto" panose="02000000000000000000" pitchFamily="2" charset="0"/>
              </a:rPr>
              <a:t>đổi</a:t>
            </a:r>
            <a:r>
              <a:rPr lang="en-US" dirty="0">
                <a:solidFill>
                  <a:srgbClr val="333333"/>
                </a:solidFill>
                <a:latin typeface="Roboto" panose="02000000000000000000" pitchFamily="2" charset="0"/>
              </a:rPr>
              <a:t> </a:t>
            </a:r>
            <a:r>
              <a:rPr lang="en-US" dirty="0" err="1">
                <a:solidFill>
                  <a:srgbClr val="333333"/>
                </a:solidFill>
                <a:latin typeface="Roboto" panose="02000000000000000000" pitchFamily="2" charset="0"/>
              </a:rPr>
              <a:t>độ</a:t>
            </a:r>
            <a:r>
              <a:rPr lang="en-US" dirty="0">
                <a:solidFill>
                  <a:srgbClr val="333333"/>
                </a:solidFill>
                <a:latin typeface="Roboto" panose="02000000000000000000" pitchFamily="2" charset="0"/>
              </a:rPr>
              <a:t> </a:t>
            </a:r>
            <a:r>
              <a:rPr lang="en-US" dirty="0" err="1">
                <a:solidFill>
                  <a:srgbClr val="333333"/>
                </a:solidFill>
                <a:latin typeface="Roboto" panose="02000000000000000000" pitchFamily="2" charset="0"/>
              </a:rPr>
              <a:t>sáng</a:t>
            </a:r>
            <a:r>
              <a:rPr lang="en-US" dirty="0">
                <a:solidFill>
                  <a:srgbClr val="333333"/>
                </a:solidFill>
                <a:latin typeface="Roboto" panose="02000000000000000000" pitchFamily="2" charset="0"/>
              </a:rPr>
              <a:t> </a:t>
            </a:r>
            <a:r>
              <a:rPr lang="en-US" dirty="0" err="1">
                <a:solidFill>
                  <a:srgbClr val="333333"/>
                </a:solidFill>
                <a:latin typeface="Roboto" panose="02000000000000000000" pitchFamily="2" charset="0"/>
              </a:rPr>
              <a:t>của</a:t>
            </a:r>
            <a:r>
              <a:rPr lang="en-US" dirty="0">
                <a:solidFill>
                  <a:srgbClr val="333333"/>
                </a:solidFill>
                <a:latin typeface="Roboto" panose="02000000000000000000" pitchFamily="2" charset="0"/>
              </a:rPr>
              <a:t> </a:t>
            </a:r>
            <a:r>
              <a:rPr lang="en-US" dirty="0" err="1">
                <a:solidFill>
                  <a:srgbClr val="333333"/>
                </a:solidFill>
                <a:latin typeface="Roboto" panose="02000000000000000000" pitchFamily="2" charset="0"/>
              </a:rPr>
              <a:t>đèn</a:t>
            </a:r>
            <a:r>
              <a:rPr lang="en-US">
                <a:solidFill>
                  <a:srgbClr val="333333"/>
                </a:solidFill>
                <a:latin typeface="Roboto" panose="02000000000000000000" pitchFamily="2" charset="0"/>
              </a:rPr>
              <a:t> LED.</a:t>
            </a:r>
            <a:endParaRPr lang="en-US" dirty="0">
              <a:solidFill>
                <a:srgbClr val="333333"/>
              </a:solidFill>
              <a:latin typeface="Roboto" panose="02000000000000000000" pitchFamily="2" charset="0"/>
            </a:endParaRPr>
          </a:p>
          <a:p>
            <a:r>
              <a:rPr lang="en-US" dirty="0">
                <a:solidFill>
                  <a:srgbClr val="333333"/>
                </a:solidFill>
                <a:latin typeface="Roboto" panose="02000000000000000000" pitchFamily="2" charset="0"/>
              </a:rPr>
              <a:t>  </a:t>
            </a:r>
            <a:endParaRPr lang="en-US" dirty="0"/>
          </a:p>
        </p:txBody>
      </p:sp>
    </p:spTree>
    <p:extLst>
      <p:ext uri="{BB962C8B-B14F-4D97-AF65-F5344CB8AC3E}">
        <p14:creationId xmlns:p14="http://schemas.microsoft.com/office/powerpoint/2010/main" val="547754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5945A2BB-ABB6-48FB-A491-502474D93E34}"/>
              </a:ext>
            </a:extLst>
          </p:cNvPr>
          <p:cNvSpPr txBox="1">
            <a:spLocks/>
          </p:cNvSpPr>
          <p:nvPr/>
        </p:nvSpPr>
        <p:spPr>
          <a:xfrm>
            <a:off x="5605763" y="2869457"/>
            <a:ext cx="5422456" cy="971304"/>
          </a:xfrm>
          <a:prstGeom prst="rect">
            <a:avLst/>
          </a:prstGeom>
        </p:spPr>
        <p:txBody>
          <a:bodyPr/>
          <a:lstStyle>
            <a:lvl1pPr algn="l" defTabSz="914400" rtl="0" eaLnBrk="1" latinLnBrk="0" hangingPunct="1">
              <a:lnSpc>
                <a:spcPct val="90000"/>
              </a:lnSpc>
              <a:spcBef>
                <a:spcPct val="0"/>
              </a:spcBef>
              <a:buNone/>
              <a:defRPr sz="72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6000" dirty="0"/>
              <a:t>THANK YOU !</a:t>
            </a:r>
          </a:p>
        </p:txBody>
      </p:sp>
      <p:sp>
        <p:nvSpPr>
          <p:cNvPr id="3" name="Slide Number Placeholder 2">
            <a:extLst>
              <a:ext uri="{FF2B5EF4-FFF2-40B4-BE49-F238E27FC236}">
                <a16:creationId xmlns:a16="http://schemas.microsoft.com/office/drawing/2014/main" id="{B255FE58-BA70-418C-863F-55066B6675FB}"/>
              </a:ext>
            </a:extLst>
          </p:cNvPr>
          <p:cNvSpPr>
            <a:spLocks noGrp="1"/>
          </p:cNvSpPr>
          <p:nvPr>
            <p:ph type="sldNum" sz="quarter" idx="12"/>
          </p:nvPr>
        </p:nvSpPr>
        <p:spPr/>
        <p:txBody>
          <a:bodyPr/>
          <a:lstStyle/>
          <a:p>
            <a:fld id="{9EA0BE3B-158A-4EDF-80DC-E394A0D1600F}" type="slidenum">
              <a:rPr lang="en-US" smtClean="0"/>
              <a:pPr/>
              <a:t>12</a:t>
            </a:fld>
            <a:endParaRPr lang="en-US"/>
          </a:p>
        </p:txBody>
      </p:sp>
    </p:spTree>
    <p:extLst>
      <p:ext uri="{BB962C8B-B14F-4D97-AF65-F5344CB8AC3E}">
        <p14:creationId xmlns:p14="http://schemas.microsoft.com/office/powerpoint/2010/main" val="2790627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296</TotalTime>
  <Words>544</Words>
  <Application>Microsoft Office PowerPoint</Application>
  <PresentationFormat>Widescreen</PresentationFormat>
  <Paragraphs>53</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Lato</vt:lpstr>
      <vt:lpstr>Open Sans</vt:lpstr>
      <vt:lpstr>Poppins</vt:lpstr>
      <vt:lpstr>Roboto</vt:lpstr>
      <vt:lpstr>Wingdings</vt:lpstr>
      <vt:lpstr>Office Theme</vt:lpstr>
      <vt:lpstr>PowerPoint Presentation</vt:lpstr>
      <vt:lpstr>PowerPoint Presentation</vt:lpstr>
      <vt:lpstr>I.ARDUINO</vt:lpstr>
      <vt:lpstr>I.ARDUINO</vt:lpstr>
      <vt:lpstr>II. ARDUINO IDE</vt:lpstr>
      <vt:lpstr>II. ARDUINO IDE</vt:lpstr>
      <vt:lpstr>II. ARDUINO IDE</vt:lpstr>
      <vt:lpstr>II. ARDUINO IDE</vt:lpstr>
      <vt:lpstr>III. Tín hiệu</vt:lpstr>
      <vt:lpstr>III. Tín hiệu</vt:lpstr>
      <vt:lpstr>Bài tập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Nguyen Van Trung 20227497</cp:lastModifiedBy>
  <cp:revision>12</cp:revision>
  <dcterms:created xsi:type="dcterms:W3CDTF">2021-05-28T04:32:29Z</dcterms:created>
  <dcterms:modified xsi:type="dcterms:W3CDTF">2025-08-28T20:44:17Z</dcterms:modified>
</cp:coreProperties>
</file>