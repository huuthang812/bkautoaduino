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9"/>
  </p:notesMasterIdLst>
  <p:handoutMasterIdLst>
    <p:handoutMasterId r:id="rId10"/>
  </p:handoutMasterIdLst>
  <p:sldIdLst>
    <p:sldId id="265" r:id="rId2"/>
    <p:sldId id="261" r:id="rId3"/>
    <p:sldId id="266" r:id="rId4"/>
    <p:sldId id="270" r:id="rId5"/>
    <p:sldId id="277" r:id="rId6"/>
    <p:sldId id="278" r:id="rId7"/>
    <p:sldId id="27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ắng Hữu" initials="TH" lastIdx="1" clrIdx="0">
    <p:extLst>
      <p:ext uri="{19B8F6BF-5375-455C-9EA6-DF929625EA0E}">
        <p15:presenceInfo xmlns:p15="http://schemas.microsoft.com/office/powerpoint/2012/main" userId="1ace0c489eb93f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56682" autoAdjust="0"/>
  </p:normalViewPr>
  <p:slideViewPr>
    <p:cSldViewPr snapToGrid="0">
      <p:cViewPr varScale="1">
        <p:scale>
          <a:sx n="51" d="100"/>
          <a:sy n="51" d="100"/>
        </p:scale>
        <p:origin x="211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8-23T14:29:57.685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Tụ điện</a:t>
            </a:r>
            <a:r>
              <a:rPr lang="vi-VN" dirty="0"/>
              <a:t> là linh kiện có hai chân, hoạt động giống như một cái bình chứa điện. Nó tích trữ năng lượng điện dưới dạng </a:t>
            </a:r>
            <a:r>
              <a:rPr lang="vi-VN" b="1" dirty="0"/>
              <a:t>điện trường</a:t>
            </a:r>
          </a:p>
          <a:p>
            <a:r>
              <a:rPr lang="vi-VN" b="1" dirty="0"/>
              <a:t>Tích trữ và phóng điện</a:t>
            </a:r>
            <a:r>
              <a:rPr lang="vi-VN" dirty="0"/>
              <a:t>: giống như pin mini nhưng phóng rất nhanh.</a:t>
            </a:r>
          </a:p>
          <a:p>
            <a:r>
              <a:rPr lang="vi-VN" b="1" dirty="0"/>
              <a:t>Lọc nhiễu</a:t>
            </a:r>
            <a:r>
              <a:rPr lang="vi-VN" dirty="0"/>
              <a:t>: trong mạch nguồn, tụ giúp làm điện áp mượt hơn, không bị gợn sóng.</a:t>
            </a:r>
          </a:p>
          <a:p>
            <a:r>
              <a:rPr lang="vi-VN" b="1" dirty="0"/>
              <a:t>Tạo trễ</a:t>
            </a:r>
            <a:r>
              <a:rPr lang="vi-VN" dirty="0"/>
              <a:t>: ví dụ khi kết hợp với điện trở, tụ có thể tạo ra khoảng trễ cho mạch bật tắt đèn.</a:t>
            </a:r>
          </a:p>
          <a:p>
            <a:r>
              <a:rPr lang="vi-VN" b="1" dirty="0"/>
              <a:t>Tụ hóa</a:t>
            </a:r>
            <a:r>
              <a:rPr lang="vi-VN" dirty="0"/>
              <a:t>: thường hình trụ, to hơn, có cực âm và dương rõ ràng. Nếu cắm ngược sẽ hỏng, thậm chí nổ.</a:t>
            </a:r>
          </a:p>
          <a:p>
            <a:r>
              <a:rPr lang="vi-VN" b="1" dirty="0"/>
              <a:t>Tụ gốm</a:t>
            </a:r>
            <a:r>
              <a:rPr lang="vi-VN" dirty="0"/>
              <a:t>: nhỏ, thường màu cam/nâu, không phân cực nên cắm chiều nào cũng được.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5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Cuộn cảm</a:t>
            </a:r>
            <a:r>
              <a:rPr lang="vi-VN" dirty="0"/>
              <a:t> thực chất là một cuộn dây đồng quấn quanh lõi sắt hoặc lõi không khí. Khi có dòng điện chạy qua, nó sinh ra </a:t>
            </a:r>
            <a:r>
              <a:rPr lang="vi-VN" b="1" dirty="0"/>
              <a:t>từ trường</a:t>
            </a:r>
          </a:p>
          <a:p>
            <a:r>
              <a:rPr lang="vi-VN" dirty="0"/>
              <a:t>Đặc tính quan trọng của cuộn cảm là </a:t>
            </a:r>
            <a:r>
              <a:rPr lang="vi-VN" b="1" dirty="0"/>
              <a:t>chống lại sự thay đổi của dòng điện</a:t>
            </a:r>
            <a:r>
              <a:rPr lang="vi-VN" dirty="0"/>
              <a:t>. Nghĩa là nếu dòng điện tăng hoặc giảm đột ngột, cuộn cảm sẽ tìm cách giữ cho dòng điện ổn định hơn.</a:t>
            </a:r>
          </a:p>
          <a:p>
            <a:r>
              <a:rPr lang="vi-VN" dirty="0"/>
              <a:t>Ứng dụng thực tế:</a:t>
            </a:r>
          </a:p>
          <a:p>
            <a:r>
              <a:rPr lang="vi-VN" dirty="0"/>
              <a:t>Trong sơ đồ mạch, cuộn cảm được ký hiệu bằng hình lò 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97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Transistor có 3 chân: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 (Base – gốc)</a:t>
            </a:r>
            <a:r>
              <a:rPr lang="vi-VN" dirty="0"/>
              <a:t>: chân điều khiển.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C (Collector – cực thu)</a:t>
            </a:r>
            <a:r>
              <a:rPr lang="vi-VN" dirty="0"/>
              <a:t>: nơi dòng điện đi vào.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E (Emitter – cực phát)</a:t>
            </a:r>
            <a:r>
              <a:rPr lang="vi-VN" dirty="0"/>
              <a:t>: nơi dòng điện đi ra.</a:t>
            </a:r>
          </a:p>
          <a:p>
            <a:r>
              <a:rPr lang="vi-VN" dirty="0"/>
              <a:t>Có hai loại: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NPN</a:t>
            </a:r>
            <a:r>
              <a:rPr lang="vi-VN" dirty="0"/>
              <a:t>: phổ biến hơn, khi có dòng nhỏ vào Base, transistor cho dòng lớn đi từ C sang 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PNP</a:t>
            </a:r>
            <a:r>
              <a:rPr lang="vi-VN" dirty="0"/>
              <a:t>: ngược lại, dòng đi theo chiều khác.</a:t>
            </a:r>
          </a:p>
          <a:p>
            <a:r>
              <a:rPr lang="vi-VN" dirty="0"/>
              <a:t>Ứng dụng:</a:t>
            </a:r>
          </a:p>
          <a:p>
            <a:pPr>
              <a:buFont typeface="+mj-lt"/>
              <a:buAutoNum type="arabicPeriod"/>
            </a:pPr>
            <a:r>
              <a:rPr lang="vi-VN" b="1" dirty="0"/>
              <a:t>Làm công tắc điện tử</a:t>
            </a:r>
            <a:r>
              <a:rPr lang="vi-VN" dirty="0"/>
              <a:t>: ví dụ tín hiệu nhỏ từ Arduino bật LED hoặc quạt.</a:t>
            </a:r>
          </a:p>
          <a:p>
            <a:pPr>
              <a:buFont typeface="+mj-lt"/>
              <a:buAutoNum type="arabicPeriod"/>
            </a:pPr>
            <a:r>
              <a:rPr lang="vi-VN" b="1" dirty="0"/>
              <a:t>Khuếch đại tín hiệu</a:t>
            </a:r>
            <a:r>
              <a:rPr lang="vi-VN" dirty="0"/>
              <a:t>: ví dụ trong loa, tín hiệu âm thanh nhỏ được transistor khuếch đại để phát ra loa to.</a:t>
            </a:r>
          </a:p>
          <a:p>
            <a:r>
              <a:rPr lang="vi-VN" dirty="0"/>
              <a:t>transistor có thể khuếch đại dòng điện hàng trăm lần.</a:t>
            </a:r>
          </a:p>
          <a:p>
            <a:r>
              <a:rPr lang="vi-VN" i="1" dirty="0"/>
              <a:t>điều khiển một bóng đèn 220V từ Arduino 5V, thì có dùng transistor được không?</a:t>
            </a:r>
            <a:r>
              <a:rPr lang="vi-V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65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Relay là một loại </a:t>
            </a:r>
            <a:r>
              <a:rPr lang="vi-VN" b="1" dirty="0"/>
              <a:t>công tắc điều khiển bằng điện từ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Bên trong relay có một cuộn dây. Khi có dòng chạy qua, cuộn dây tạo từ trường, hút lá kim loại để đóng hoặc mở mạch điện.</a:t>
            </a:r>
          </a:p>
          <a:p>
            <a:r>
              <a:rPr lang="vi-VN" dirty="0"/>
              <a:t>Có thể dùng tín hiệu nhỏ (5V) để điều khiển tải lớn (220V).</a:t>
            </a:r>
          </a:p>
          <a:p>
            <a:r>
              <a:rPr lang="vi-VN" dirty="0"/>
              <a:t>Cách ly giữa mạch điều khiển và mạch tải, giúp an toàn.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87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8/23/2025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8/23/2025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8/23/2025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8/23/2025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3" r:id="rId4"/>
    <p:sldLayoutId id="2147483679" r:id="rId5"/>
    <p:sldLayoutId id="2147483680" r:id="rId6"/>
    <p:sldLayoutId id="2147483681" r:id="rId7"/>
    <p:sldLayoutId id="2147483682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I: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4D7858-B900-4DAF-969D-0ADCB4523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725" y="1568304"/>
            <a:ext cx="4577316" cy="45773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AC656B-9098-4200-8455-B563B5A28526}"/>
              </a:ext>
            </a:extLst>
          </p:cNvPr>
          <p:cNvSpPr txBox="1"/>
          <p:nvPr/>
        </p:nvSpPr>
        <p:spPr>
          <a:xfrm>
            <a:off x="132907" y="2114820"/>
            <a:ext cx="45135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Mục tiêu buổi học:</a:t>
            </a:r>
            <a:endParaRPr lang="vi-V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vi-V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Nhận diện linh kiện qua hình thực tế.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Biết công dụng &amp; ký hiệu mạch điện của từng linh kiện.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Vẽ được sơ đồ mạch đơn giản với 1–2 linh kiện.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vi-V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Thực hành lắp đúng linh kiện trên breadboard.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vi-VN" dirty="0"/>
              <a:t>Tụ điện (Capacitor)</a:t>
            </a:r>
            <a:endParaRPr lang="en-US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FAC05DA5-A6CA-4491-B8E3-730E40117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384638"/>
            <a:ext cx="576952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Ký hiệu: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Công dụng chính: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vi-VN" altLang="vi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Tích trữ năng lượng điện.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vi-VN" altLang="vi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Lọc nhiễu trong mạch nguồn.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vi-VN" altLang="vi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Tạo trễ thời gian trong mạch.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Phân loại: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Tụ hóa (có cực), tụ gốm (không phân cực).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Ứng dụng nhỏ: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Mạch nháy LED dùng tụ + điện trở.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13827E-F581-43B0-875B-E4B3BB1C7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01" y="1111285"/>
            <a:ext cx="638264" cy="5334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842ED4-56E7-4E76-A549-4565DC866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097" y="3611702"/>
            <a:ext cx="3394170" cy="2265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9A02DC-FCD2-4CA2-B80A-34042620D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796" y="3534272"/>
            <a:ext cx="2129385" cy="242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Cuộn cảm (Inductor)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4DDFEFC-D2A4-4F94-9F6B-9FE192F0ECD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35077" y="1121332"/>
            <a:ext cx="563647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Ký hiệu: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Công dụng chính: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Tạo từ trường khi có dòng điện chạy qua.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Lọc dòng (lọc nhiễu, lọc sóng cao tần).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Dùng trong mạch cộng hưởng LC.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Ứng dụng nhỏ: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cuộn cảm trong mạch sạc không dây.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44C8DE-A219-4AD3-BDAC-D2C0FC37B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102" y="2952603"/>
            <a:ext cx="3460052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CFF6E0-AE79-44C2-92DF-B70CB734E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795" y="3189153"/>
            <a:ext cx="3776824" cy="279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Transistor (NPN &amp; PNP)</a:t>
            </a:r>
            <a:br>
              <a:rPr lang="vi-VN" b="1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799CE-BE2A-4838-A757-38145D542059}"/>
              </a:ext>
            </a:extLst>
          </p:cNvPr>
          <p:cNvSpPr txBox="1"/>
          <p:nvPr/>
        </p:nvSpPr>
        <p:spPr>
          <a:xfrm>
            <a:off x="235077" y="1296367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Ký hiệu:</a:t>
            </a:r>
            <a:endParaRPr lang="vi-V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NPN: mũi tên từ Emitter 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PNP: mũi tên hướng vào Emitter.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Nguyên lý cơ bản:</a:t>
            </a:r>
            <a:r>
              <a:rPr lang="vi-V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Transistor hoạt động dựa trên việc dòng nhỏ ở chân Base sẽ điều khiển dòng lớn đi qua Collector – Emitter.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Cấu tạo:</a:t>
            </a:r>
            <a:r>
              <a:rPr lang="vi-V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3 chân → B (Base), C (Collector), E (Emitter).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82508A-66AF-4548-AC8B-953A0C00C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822" y="2541180"/>
            <a:ext cx="3452900" cy="324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Relay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AD2F3BF-D768-4041-BA02-2271DE827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77" y="1120676"/>
            <a:ext cx="74831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Nguyên lý: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Công tắc đóng/cắt bằng từ trường sinh ra từ cuộn dây.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Ký hiệu: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vi-VN" altLang="vi-V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Công dụng chính:</a:t>
            </a:r>
            <a:endParaRPr kumimoji="0" lang="vi-VN" altLang="vi-V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vi-VN" altLang="vi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Dùng tín hiệu điện nhỏ để điều khiển tải lớn (quạt, đèn, động cơ).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vi-VN" altLang="vi-V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Cách ly điện áp cao và thấp.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vi-V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Ứng dụng:</a:t>
            </a:r>
            <a:r>
              <a:rPr lang="vi-V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relay trong mạch bật tắt đèn tự động.</a:t>
            </a:r>
            <a:endParaRPr kumimoji="0" lang="vi-VN" altLang="vi-V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29B44D-7A8F-4C88-BE81-8A534A449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694" y="3569184"/>
            <a:ext cx="2229161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27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1FA177-7BD9-41EE-BFB4-C5BA2B17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71B284-2EAC-48A3-9461-4D56BE25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endParaRPr lang="vi-V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EC42A10-F4DE-42D6-A560-79FEF27C392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2642" y="1600939"/>
            <a:ext cx="5227969" cy="1605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vi-VN" sz="2000" b="1" dirty="0"/>
              <a:t>Ví dụ 1: Mạch LED điều khiển bằng transistor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000" b="1" dirty="0"/>
              <a:t>Linh kiện cần:</a:t>
            </a:r>
            <a:r>
              <a:rPr lang="vi-VN" sz="2000" dirty="0"/>
              <a:t> 1 transistor (loại nào cũng được, NPN dễ dùng), 1 LED, 1 điện trở (220</a:t>
            </a:r>
            <a:r>
              <a:rPr lang="el-GR" sz="2000" dirty="0"/>
              <a:t>Ω – 1</a:t>
            </a:r>
            <a:r>
              <a:rPr lang="vi-VN" sz="2000" dirty="0"/>
              <a:t>k</a:t>
            </a:r>
            <a:r>
              <a:rPr lang="el-GR" sz="2000" dirty="0"/>
              <a:t>Ω), </a:t>
            </a:r>
            <a:r>
              <a:rPr lang="vi-VN" sz="2000"/>
              <a:t>nguồn 5V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1476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40B87-44E5-4E16-8B82-DD58D6D00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EB1E0-F62D-420A-A394-BEE1F3D8C7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vi-VN" sz="1800" b="1" dirty="0"/>
              <a:t>Nguyên lý:</a:t>
            </a:r>
            <a:endParaRPr lang="vi-V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vi-VN" sz="1800" dirty="0"/>
              <a:t>Khi có tín hiệu điều khiển nhỏ đưa vào chân Base, transistor sẽ cho dòng đi qua Collector – Emitter.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1800" dirty="0"/>
              <a:t>LED được cấp dòng → LED sáng.</a:t>
            </a:r>
          </a:p>
          <a:p>
            <a:endParaRPr lang="vi-VN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A603C6-3FA8-4379-A375-705DC01A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A22FC-24A8-4F18-BAA1-9230CBFD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66" y="2975733"/>
            <a:ext cx="5259334" cy="346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50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</TotalTime>
  <Words>871</Words>
  <Application>Microsoft Office PowerPoint</Application>
  <PresentationFormat>On-screen Show (4:3)</PresentationFormat>
  <Paragraphs>77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Lato</vt:lpstr>
      <vt:lpstr>Wingdings</vt:lpstr>
      <vt:lpstr>Office Theme</vt:lpstr>
      <vt:lpstr>I: Giới thiệu linh kiện điện tử cơ bản</vt:lpstr>
      <vt:lpstr>Tụ điện (Capacitor)</vt:lpstr>
      <vt:lpstr>Cuộn cảm (Inductor)</vt:lpstr>
      <vt:lpstr>Transistor (NPN &amp; PNP) </vt:lpstr>
      <vt:lpstr>Relay</vt:lpstr>
      <vt:lpstr>Vẽ sơ đồ mạch đơn giản</vt:lpstr>
      <vt:lpstr>Vẽ sơ đồ mạch đơn giản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Thắng Hữu</cp:lastModifiedBy>
  <cp:revision>23</cp:revision>
  <dcterms:created xsi:type="dcterms:W3CDTF">2021-05-28T04:32:29Z</dcterms:created>
  <dcterms:modified xsi:type="dcterms:W3CDTF">2025-08-23T07:37:28Z</dcterms:modified>
</cp:coreProperties>
</file>