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9" r:id="rId2"/>
    <p:sldId id="257" r:id="rId3"/>
    <p:sldId id="261" r:id="rId4"/>
    <p:sldId id="258" r:id="rId5"/>
    <p:sldId id="260" r:id="rId6"/>
    <p:sldId id="264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33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8/27/2025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8/27/2025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8/27/2025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t>8/27/2025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8/27/2025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2394355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Giao </a:t>
            </a:r>
            <a:r>
              <a:rPr lang="en-US" sz="2800" b="0" dirty="0" err="1"/>
              <a:t>tiếp</a:t>
            </a:r>
            <a:r>
              <a:rPr lang="en-US" sz="2800" b="0" dirty="0"/>
              <a:t> serial </a:t>
            </a:r>
            <a:r>
              <a:rPr lang="en-US" sz="2800" b="0" dirty="0" err="1"/>
              <a:t>giữa</a:t>
            </a:r>
            <a:r>
              <a:rPr lang="en-US" sz="2800" b="0" dirty="0"/>
              <a:t> Arduino &amp; PC.</a:t>
            </a:r>
          </a:p>
          <a:p>
            <a:r>
              <a:rPr lang="en-US" sz="2800" b="0" dirty="0" err="1"/>
              <a:t>Khái</a:t>
            </a:r>
            <a:r>
              <a:rPr lang="en-US" sz="2800" b="0" dirty="0"/>
              <a:t> </a:t>
            </a:r>
            <a:r>
              <a:rPr lang="en-US" sz="2800" b="0" dirty="0" err="1"/>
              <a:t>niệm</a:t>
            </a:r>
            <a:r>
              <a:rPr lang="en-US" sz="2800" b="0" dirty="0"/>
              <a:t> pull-up/pull-down</a:t>
            </a:r>
          </a:p>
          <a:p>
            <a:r>
              <a:rPr lang="en-US" sz="2800" b="0" dirty="0" err="1"/>
              <a:t>Đọc</a:t>
            </a:r>
            <a:r>
              <a:rPr lang="en-US" sz="2800" b="0" dirty="0"/>
              <a:t> </a:t>
            </a:r>
            <a:r>
              <a:rPr lang="en-US" sz="2800" b="0" dirty="0" err="1"/>
              <a:t>tín</a:t>
            </a:r>
            <a:r>
              <a:rPr lang="en-US" sz="2800" b="0" dirty="0"/>
              <a:t> </a:t>
            </a:r>
            <a:r>
              <a:rPr lang="en-US" sz="2800" b="0" dirty="0" err="1"/>
              <a:t>hiệu</a:t>
            </a:r>
            <a:r>
              <a:rPr lang="en-US" sz="2800" b="0" dirty="0"/>
              <a:t> </a:t>
            </a:r>
            <a:r>
              <a:rPr lang="en-US" sz="2800" b="0" dirty="0" err="1"/>
              <a:t>cảm</a:t>
            </a:r>
            <a:r>
              <a:rPr lang="en-US" sz="2800" b="0" dirty="0"/>
              <a:t> </a:t>
            </a:r>
            <a:r>
              <a:rPr lang="en-US" sz="2800" b="0" dirty="0" err="1"/>
              <a:t>biến</a:t>
            </a:r>
            <a:r>
              <a:rPr lang="en-US" sz="2800" b="0" dirty="0"/>
              <a:t> (digital/analog)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Serial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EFB6F-F194-4E91-8734-F6CF7497C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7258"/>
            <a:ext cx="7695990" cy="45834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08D3B2-A165-41BB-8F3E-F38747EA9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291" y="1270420"/>
            <a:ext cx="2772162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Giao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Serial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Baud rate: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1 bit</a:t>
            </a:r>
          </a:p>
          <a:p>
            <a:pPr lvl="1"/>
            <a:r>
              <a:rPr lang="vi-VN" dirty="0"/>
              <a:t>Càng cao → thông lượng lớn, độ trễ thấp, nhưng nhạy nhiễu hơn, yêu cầu clock chính xác hơn, dây phải ngắn/chất lượng tốt.</a:t>
            </a:r>
          </a:p>
          <a:p>
            <a:pPr lvl="1"/>
            <a:r>
              <a:rPr lang="vi-VN" dirty="0"/>
              <a:t>Càng thấp → ổn định trên dây dài/nhiễu nhưng thông lượng thấp, log dễ nghẽn buffer.</a:t>
            </a:r>
          </a:p>
          <a:p>
            <a:pPr marL="457200" lvl="1" indent="0">
              <a:buNone/>
            </a:pP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: 9600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LM35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25E585-4F5E-443D-AEAD-F8B3FABAEBB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-585139" y="974725"/>
            <a:ext cx="6241286" cy="49085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BAD90-8F55-4BEC-993A-1A9527EE1411}"/>
              </a:ext>
            </a:extLst>
          </p:cNvPr>
          <p:cNvSpPr txBox="1"/>
          <p:nvPr/>
        </p:nvSpPr>
        <p:spPr>
          <a:xfrm>
            <a:off x="7483378" y="869576"/>
            <a:ext cx="4911865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Cảm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biến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nhiệt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độ</a:t>
            </a:r>
            <a:endParaRPr lang="en-US" sz="2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Ứng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đo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nhiệt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độ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môi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trường</a:t>
            </a:r>
            <a:endParaRPr lang="en-US" sz="2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Rẻ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độ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chính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xác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tương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đối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đơn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giản</a:t>
            </a:r>
            <a:endParaRPr lang="en-US" sz="2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Lưu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ý: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Cắm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ngược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V+ &lt;-&gt; GND =&gt;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cảm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biến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hỏng</a:t>
            </a:r>
            <a:endParaRPr lang="en-US" sz="2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801A04-1A62-49B5-8D8F-50052329C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570" y="3760445"/>
            <a:ext cx="3593049" cy="23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FE0E-299A-46D8-9DF7-2C84CBBC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i="0" dirty="0">
                <a:solidFill>
                  <a:srgbClr val="F1F1F1"/>
                </a:solidFill>
                <a:effectLst/>
              </a:rPr>
              <a:t>Pull-up</a:t>
            </a:r>
            <a:r>
              <a:rPr lang="vi-VN" b="1" i="0" dirty="0">
                <a:solidFill>
                  <a:srgbClr val="F1F1F1"/>
                </a:solidFill>
                <a:effectLst/>
                <a:latin typeface="Roboto" panose="02000000000000000000" pitchFamily="2" charset="0"/>
              </a:rPr>
              <a:t> and Pull-down Resistors</a:t>
            </a:r>
            <a:br>
              <a:rPr lang="vi-VN" b="1" i="0" dirty="0">
                <a:solidFill>
                  <a:srgbClr val="F1F1F1"/>
                </a:solidFill>
                <a:effectLst/>
                <a:latin typeface="Roboto" panose="02000000000000000000" pitchFamily="2" charset="0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4E653-E636-4EED-9A37-BC263FE8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A3F44-3D26-4470-888D-50F8AA31CD73}"/>
              </a:ext>
            </a:extLst>
          </p:cNvPr>
          <p:cNvSpPr txBox="1"/>
          <p:nvPr/>
        </p:nvSpPr>
        <p:spPr>
          <a:xfrm>
            <a:off x="354920" y="1079969"/>
            <a:ext cx="1185326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điện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trở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“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kéo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”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một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input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về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mức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mặc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định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(HIGH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hoặc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LOW)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nút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chưa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bấm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để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tránh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floating(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nhiễu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trôi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Pull-up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kéo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input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lên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Vcc</a:t>
            </a:r>
            <a:endParaRPr lang="en-US" sz="23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Pull –down :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kéo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chân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input </a:t>
            </a:r>
            <a:r>
              <a:rPr lang="en-US" sz="23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xuống</a:t>
            </a:r>
            <a:r>
              <a:rPr lang="en-US" sz="23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GND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0378A-4E98-4407-AFC7-467650BB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370" y="2537037"/>
            <a:ext cx="5341970" cy="324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0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AD8A-1EA9-C7CE-D797-0A3D974F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bấm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D1CE8-660D-F65D-7BA2-062181F1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32E51-C853-4BA1-8062-29DF3858B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094" y="2285840"/>
            <a:ext cx="2657846" cy="2286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B22DA5-C4E7-4865-A17B-691371E6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724" y="2058466"/>
            <a:ext cx="4658375" cy="2924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24390E-2D0B-4E77-80B3-4D6BF8C181F6}"/>
              </a:ext>
            </a:extLst>
          </p:cNvPr>
          <p:cNvSpPr txBox="1"/>
          <p:nvPr/>
        </p:nvSpPr>
        <p:spPr>
          <a:xfrm>
            <a:off x="2209125" y="4866215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pin</a:t>
            </a:r>
            <a:endParaRPr lang="vi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FC7AB-C9D6-4431-B1EF-C7676F127125}"/>
              </a:ext>
            </a:extLst>
          </p:cNvPr>
          <p:cNvSpPr txBox="1"/>
          <p:nvPr/>
        </p:nvSpPr>
        <p:spPr>
          <a:xfrm>
            <a:off x="8600485" y="5235547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pin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9251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202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Lato</vt:lpstr>
      <vt:lpstr>Roboto</vt:lpstr>
      <vt:lpstr>Office Theme</vt:lpstr>
      <vt:lpstr>PowerPoint Presentation</vt:lpstr>
      <vt:lpstr>PowerPoint Presentation</vt:lpstr>
      <vt:lpstr>Giao Tiếp Cổng Serial</vt:lpstr>
      <vt:lpstr>Giao Tiếp Cổng Serial</vt:lpstr>
      <vt:lpstr>Cảm Biến LM35</vt:lpstr>
      <vt:lpstr>Pull-up and Pull-down Resistors </vt:lpstr>
      <vt:lpstr>Nút bấm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Thắng Hữu</cp:lastModifiedBy>
  <cp:revision>17</cp:revision>
  <dcterms:created xsi:type="dcterms:W3CDTF">2021-05-28T04:32:29Z</dcterms:created>
  <dcterms:modified xsi:type="dcterms:W3CDTF">2025-08-26T20:39:30Z</dcterms:modified>
</cp:coreProperties>
</file>